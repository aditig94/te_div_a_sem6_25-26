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notesMasterIdLst>
    <p:notesMasterId r:id="rId19"/>
  </p:notesMasterIdLst>
  <p:sldIdLst>
    <p:sldId id="256" r:id="rId2"/>
    <p:sldId id="275" r:id="rId3"/>
    <p:sldId id="263" r:id="rId4"/>
    <p:sldId id="276" r:id="rId5"/>
    <p:sldId id="282" r:id="rId6"/>
    <p:sldId id="281" r:id="rId7"/>
    <p:sldId id="277" r:id="rId8"/>
    <p:sldId id="257" r:id="rId9"/>
    <p:sldId id="279" r:id="rId10"/>
    <p:sldId id="287" r:id="rId11"/>
    <p:sldId id="283" r:id="rId12"/>
    <p:sldId id="285" r:id="rId13"/>
    <p:sldId id="286" r:id="rId14"/>
    <p:sldId id="288" r:id="rId15"/>
    <p:sldId id="278" r:id="rId16"/>
    <p:sldId id="280" r:id="rId17"/>
    <p:sldId id="26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90" autoAdjust="0"/>
    <p:restoredTop sz="94704" autoAdjust="0"/>
  </p:normalViewPr>
  <p:slideViewPr>
    <p:cSldViewPr snapToGrid="0">
      <p:cViewPr varScale="1">
        <p:scale>
          <a:sx n="66" d="100"/>
          <a:sy n="66" d="100"/>
        </p:scale>
        <p:origin x="1502" y="27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4E2805-659C-4049-A025-C06A6733765B}" type="datetimeFigureOut">
              <a:rPr lang="en-IN" smtClean="0"/>
              <a:t>19-04-2026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949EDA-2974-440D-ADAF-2A92B86580AB}" type="slidenum">
              <a:rPr lang="en-IN" smtClean="0"/>
              <a:t>‹#›</a:t>
            </a:fld>
            <a:endParaRPr lang="en-IN"/>
          </a:p>
        </p:txBody>
      </p:sp>
    </p:spTree>
    <p:extLst>
      <p:ext uri="{BB962C8B-B14F-4D97-AF65-F5344CB8AC3E}">
        <p14:creationId xmlns:p14="http://schemas.microsoft.com/office/powerpoint/2010/main" val="1581974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AD949EDA-2974-440D-ADAF-2A92B86580AB}" type="slidenum">
              <a:rPr lang="en-IN" smtClean="0"/>
              <a:t>14</a:t>
            </a:fld>
            <a:endParaRPr lang="en-IN"/>
          </a:p>
        </p:txBody>
      </p:sp>
    </p:spTree>
    <p:extLst>
      <p:ext uri="{BB962C8B-B14F-4D97-AF65-F5344CB8AC3E}">
        <p14:creationId xmlns:p14="http://schemas.microsoft.com/office/powerpoint/2010/main" val="535218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986761-4C0F-48FE-8C76-8423FB6EFDC8}"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endParaRPr lang="en-IN" dirty="0"/>
          </a:p>
        </p:txBody>
      </p:sp>
      <p:sp>
        <p:nvSpPr>
          <p:cNvPr id="6" name="Slide Number Placeholder 5"/>
          <p:cNvSpPr>
            <a:spLocks noGrp="1"/>
          </p:cNvSpPr>
          <p:nvPr>
            <p:ph type="sldNum" sz="quarter" idx="12"/>
          </p:nvPr>
        </p:nvSpPr>
        <p:spPr/>
        <p:txBody>
          <a:bodyPr/>
          <a:lstStyle/>
          <a:p>
            <a:fld id="{1E2AE893-BA06-4F67-8C19-46525B8E0FBB}" type="slidenum">
              <a:rPr lang="en-IN" smtClean="0"/>
              <a:pPr/>
              <a:t>‹#›</a:t>
            </a:fld>
            <a:endParaRPr lang="en-IN" dirty="0"/>
          </a:p>
        </p:txBody>
      </p:sp>
    </p:spTree>
    <p:extLst>
      <p:ext uri="{BB962C8B-B14F-4D97-AF65-F5344CB8AC3E}">
        <p14:creationId xmlns:p14="http://schemas.microsoft.com/office/powerpoint/2010/main" val="384432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34DF01F-5776-4F79-A698-1B36F534561A}"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pPr/>
              <a:t>‹#›</a:t>
            </a:fld>
            <a:endParaRPr lang="en-IN"/>
          </a:p>
        </p:txBody>
      </p:sp>
    </p:spTree>
    <p:extLst>
      <p:ext uri="{BB962C8B-B14F-4D97-AF65-F5344CB8AC3E}">
        <p14:creationId xmlns:p14="http://schemas.microsoft.com/office/powerpoint/2010/main" val="2167360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FC20949-540A-45CB-B2FE-2E650E036A19}"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3321673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54F29A-481D-4972-BD1A-721E641D5314}" type="datetime1">
              <a:rPr lang="en-IN" smtClean="0"/>
              <a:t>19-04-2026</a:t>
            </a:fld>
            <a:endParaRPr lang="en-IN"/>
          </a:p>
        </p:txBody>
      </p:sp>
      <p:sp>
        <p:nvSpPr>
          <p:cNvPr id="6" name="Footer Placeholder 5"/>
          <p:cNvSpPr>
            <a:spLocks noGrp="1"/>
          </p:cNvSpPr>
          <p:nvPr>
            <p:ph type="ftr" sz="quarter" idx="11"/>
          </p:nvPr>
        </p:nvSpPr>
        <p:spPr/>
        <p:txBody>
          <a:bodyPr/>
          <a:lstStyle/>
          <a:p>
            <a:r>
              <a:rPr lang="en-IN"/>
              <a:t>Mini Project Topic Approval</a:t>
            </a:r>
          </a:p>
        </p:txBody>
      </p:sp>
      <p:sp>
        <p:nvSpPr>
          <p:cNvPr id="7" name="Slide Number Placeholder 6"/>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993798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02F2C85-91E0-44F5-9398-DEDE0730D201}" type="datetime1">
              <a:rPr lang="en-IN" smtClean="0"/>
              <a:t>19-04-2026</a:t>
            </a:fld>
            <a:endParaRPr lang="en-IN"/>
          </a:p>
        </p:txBody>
      </p:sp>
      <p:sp>
        <p:nvSpPr>
          <p:cNvPr id="8" name="Footer Placeholder 7"/>
          <p:cNvSpPr>
            <a:spLocks noGrp="1"/>
          </p:cNvSpPr>
          <p:nvPr>
            <p:ph type="ftr" sz="quarter" idx="11"/>
          </p:nvPr>
        </p:nvSpPr>
        <p:spPr/>
        <p:txBody>
          <a:bodyPr/>
          <a:lstStyle/>
          <a:p>
            <a:r>
              <a:rPr lang="en-IN"/>
              <a:t>Mini Project Topic Approval</a:t>
            </a:r>
          </a:p>
        </p:txBody>
      </p:sp>
      <p:sp>
        <p:nvSpPr>
          <p:cNvPr id="9" name="Slide Number Placeholder 8"/>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18583028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76893C6-923A-40FB-A014-BF4B9D7E8DAD}" type="datetime1">
              <a:rPr lang="en-IN" smtClean="0"/>
              <a:t>19-04-2026</a:t>
            </a:fld>
            <a:endParaRPr lang="en-IN"/>
          </a:p>
        </p:txBody>
      </p:sp>
      <p:sp>
        <p:nvSpPr>
          <p:cNvPr id="4" name="Footer Placeholder 3"/>
          <p:cNvSpPr>
            <a:spLocks noGrp="1"/>
          </p:cNvSpPr>
          <p:nvPr>
            <p:ph type="ftr" sz="quarter" idx="11"/>
          </p:nvPr>
        </p:nvSpPr>
        <p:spPr/>
        <p:txBody>
          <a:bodyPr/>
          <a:lstStyle/>
          <a:p>
            <a:r>
              <a:rPr lang="en-IN"/>
              <a:t>Mini Project Topic Approval</a:t>
            </a:r>
          </a:p>
        </p:txBody>
      </p:sp>
      <p:sp>
        <p:nvSpPr>
          <p:cNvPr id="5" name="Slide Number Placeholder 4"/>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115749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D11726D-D474-4CE8-8C38-BF0029510C59}" type="datetime1">
              <a:rPr lang="en-IN" smtClean="0"/>
              <a:t>19-04-2026</a:t>
            </a:fld>
            <a:endParaRPr lang="en-IN"/>
          </a:p>
        </p:txBody>
      </p:sp>
      <p:sp>
        <p:nvSpPr>
          <p:cNvPr id="3" name="Footer Placeholder 2"/>
          <p:cNvSpPr>
            <a:spLocks noGrp="1"/>
          </p:cNvSpPr>
          <p:nvPr>
            <p:ph type="ftr" sz="quarter" idx="11"/>
          </p:nvPr>
        </p:nvSpPr>
        <p:spPr/>
        <p:txBody>
          <a:bodyPr/>
          <a:lstStyle/>
          <a:p>
            <a:r>
              <a:rPr lang="en-IN"/>
              <a:t>Mini Project Topic Approval</a:t>
            </a:r>
          </a:p>
        </p:txBody>
      </p:sp>
      <p:sp>
        <p:nvSpPr>
          <p:cNvPr id="4" name="Slide Number Placeholder 3"/>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272119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27B7E5E-E357-40D7-9F86-7194DE2DC37A}" type="datetime1">
              <a:rPr lang="en-IN" smtClean="0"/>
              <a:t>19-04-2026</a:t>
            </a:fld>
            <a:endParaRPr lang="en-IN"/>
          </a:p>
        </p:txBody>
      </p:sp>
      <p:sp>
        <p:nvSpPr>
          <p:cNvPr id="6" name="Footer Placeholder 5"/>
          <p:cNvSpPr>
            <a:spLocks noGrp="1"/>
          </p:cNvSpPr>
          <p:nvPr>
            <p:ph type="ftr" sz="quarter" idx="11"/>
          </p:nvPr>
        </p:nvSpPr>
        <p:spPr/>
        <p:txBody>
          <a:bodyPr/>
          <a:lstStyle/>
          <a:p>
            <a:r>
              <a:rPr lang="en-IN"/>
              <a:t>Mini Project Topic Approval</a:t>
            </a:r>
          </a:p>
        </p:txBody>
      </p:sp>
      <p:sp>
        <p:nvSpPr>
          <p:cNvPr id="7" name="Slide Number Placeholder 6"/>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376289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IN"/>
              <a:t>Mini Project Topic Approval</a:t>
            </a:r>
          </a:p>
        </p:txBody>
      </p:sp>
      <p:sp>
        <p:nvSpPr>
          <p:cNvPr id="7" name="Slide Number Placeholder 6"/>
          <p:cNvSpPr>
            <a:spLocks noGrp="1"/>
          </p:cNvSpPr>
          <p:nvPr>
            <p:ph type="sldNum" sz="quarter" idx="12"/>
          </p:nvPr>
        </p:nvSpPr>
        <p:spPr/>
        <p:txBody>
          <a:bodyPr/>
          <a:lstStyle/>
          <a:p>
            <a:fld id="{1E2AE893-BA06-4F67-8C19-46525B8E0FBB}" type="slidenum">
              <a:rPr lang="en-IN" smtClean="0"/>
              <a:t>‹#›</a:t>
            </a:fld>
            <a:endParaRPr lang="en-IN"/>
          </a:p>
        </p:txBody>
      </p:sp>
      <p:sp>
        <p:nvSpPr>
          <p:cNvPr id="5" name="Date Placeholder 4"/>
          <p:cNvSpPr>
            <a:spLocks noGrp="1"/>
          </p:cNvSpPr>
          <p:nvPr>
            <p:ph type="dt" sz="half" idx="10"/>
          </p:nvPr>
        </p:nvSpPr>
        <p:spPr/>
        <p:txBody>
          <a:bodyPr/>
          <a:lstStyle/>
          <a:p>
            <a:fld id="{3D429355-BED8-4CAC-ADE6-A0C1A6FFC1ED}" type="datetime1">
              <a:rPr lang="en-IN" smtClean="0"/>
              <a:t>19-04-2026</a:t>
            </a:fld>
            <a:endParaRPr lang="en-IN"/>
          </a:p>
        </p:txBody>
      </p:sp>
    </p:spTree>
    <p:extLst>
      <p:ext uri="{BB962C8B-B14F-4D97-AF65-F5344CB8AC3E}">
        <p14:creationId xmlns:p14="http://schemas.microsoft.com/office/powerpoint/2010/main" val="1151490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5DE90-0351-42C0-A9DE-3A7AD8E0B281}"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2686088037"/>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5DE90-0351-42C0-A9DE-3A7AD8E0B281}"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98795557"/>
      </p:ext>
    </p:extLst>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5DE90-0351-42C0-A9DE-3A7AD8E0B281}"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906976255"/>
      </p:ext>
    </p:extLst>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5DE90-0351-42C0-A9DE-3A7AD8E0B281}"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05387170"/>
      </p:ext>
    </p:extLst>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25DE90-0351-42C0-A9DE-3A7AD8E0B281}"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3068514525"/>
      </p:ext>
    </p:extLst>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D181DA-D760-4498-B859-E8E181065ABB}"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3658636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F223886-1D58-41D2-ADD5-7C2E20910322}" type="datetime1">
              <a:rPr lang="en-IN" smtClean="0"/>
              <a:t>19-04-2026</a:t>
            </a:fld>
            <a:endParaRPr lang="en-IN"/>
          </a:p>
        </p:txBody>
      </p:sp>
      <p:sp>
        <p:nvSpPr>
          <p:cNvPr id="5" name="Footer Placeholder 4"/>
          <p:cNvSpPr>
            <a:spLocks noGrp="1"/>
          </p:cNvSpPr>
          <p:nvPr>
            <p:ph type="ftr" sz="quarter" idx="11"/>
          </p:nvPr>
        </p:nvSpPr>
        <p:spPr/>
        <p:txBody>
          <a:bodyPr/>
          <a:lstStyle/>
          <a:p>
            <a:r>
              <a:rPr lang="en-IN"/>
              <a:t>Mini Project Topic Approval</a:t>
            </a:r>
          </a:p>
        </p:txBody>
      </p:sp>
      <p:sp>
        <p:nvSpPr>
          <p:cNvPr id="6" name="Slide Number Placeholder 5"/>
          <p:cNvSpPr>
            <a:spLocks noGrp="1"/>
          </p:cNvSpPr>
          <p:nvPr>
            <p:ph type="sldNum" sz="quarter" idx="12"/>
          </p:nvPr>
        </p:nvSpPr>
        <p:spPr/>
        <p:txBody>
          <a:bodyPr/>
          <a:lstStyle/>
          <a:p>
            <a:fld id="{1E2AE893-BA06-4F67-8C19-46525B8E0FBB}" type="slidenum">
              <a:rPr lang="en-IN" smtClean="0"/>
              <a:t>‹#›</a:t>
            </a:fld>
            <a:endParaRPr lang="en-IN"/>
          </a:p>
        </p:txBody>
      </p:sp>
    </p:spTree>
    <p:extLst>
      <p:ext uri="{BB962C8B-B14F-4D97-AF65-F5344CB8AC3E}">
        <p14:creationId xmlns:p14="http://schemas.microsoft.com/office/powerpoint/2010/main" val="1647632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B25DE90-0351-42C0-A9DE-3A7AD8E0B281}" type="datetime1">
              <a:rPr lang="en-IN" smtClean="0"/>
              <a:t>19-04-2026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IN"/>
              <a:t>Mini Project Topic Approval</a:t>
            </a: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E2AE893-BA06-4F67-8C19-46525B8E0FBB}" type="slidenum">
              <a:rPr lang="en-IN" smtClean="0"/>
              <a:t>‹#›</a:t>
            </a:fld>
            <a:endParaRPr lang="en-IN"/>
          </a:p>
        </p:txBody>
      </p:sp>
    </p:spTree>
    <p:extLst>
      <p:ext uri="{BB962C8B-B14F-4D97-AF65-F5344CB8AC3E}">
        <p14:creationId xmlns:p14="http://schemas.microsoft.com/office/powerpoint/2010/main" val="2966444702"/>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hf hd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s://www.sciencedirect.com/science/article/pii/S2666154325002662?utm_source=chatgpt.com" TargetMode="External"/><Relationship Id="rId2" Type="http://schemas.openxmlformats.org/officeDocument/2006/relationships/hyperlink" Target="https://ncaidt.ganitara.com/ncaidt25/papers/P5.pdf?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5BA7452-B1FD-4787-9AD6-8F1626538519}"/>
              </a:ext>
            </a:extLst>
          </p:cNvPr>
          <p:cNvPicPr>
            <a:picLocks noChangeAspect="1"/>
          </p:cNvPicPr>
          <p:nvPr/>
        </p:nvPicPr>
        <p:blipFill>
          <a:blip r:embed="rId2"/>
          <a:stretch>
            <a:fillRect/>
          </a:stretch>
        </p:blipFill>
        <p:spPr>
          <a:xfrm>
            <a:off x="3059167" y="84665"/>
            <a:ext cx="6073666" cy="1150720"/>
          </a:xfrm>
          <a:prstGeom prst="rect">
            <a:avLst/>
          </a:prstGeom>
        </p:spPr>
      </p:pic>
      <p:sp>
        <p:nvSpPr>
          <p:cNvPr id="6" name="TextBox 5">
            <a:extLst>
              <a:ext uri="{FF2B5EF4-FFF2-40B4-BE49-F238E27FC236}">
                <a16:creationId xmlns:a16="http://schemas.microsoft.com/office/drawing/2014/main" id="{02F5F8CD-2E11-44A0-9D8E-7114C74E3E7E}"/>
              </a:ext>
            </a:extLst>
          </p:cNvPr>
          <p:cNvSpPr txBox="1"/>
          <p:nvPr/>
        </p:nvSpPr>
        <p:spPr>
          <a:xfrm>
            <a:off x="2922496" y="1353330"/>
            <a:ext cx="6699430" cy="1077218"/>
          </a:xfrm>
          <a:prstGeom prst="rect">
            <a:avLst/>
          </a:prstGeom>
          <a:noFill/>
        </p:spPr>
        <p:txBody>
          <a:bodyPr wrap="square" rtlCol="0">
            <a:spAutoFit/>
          </a:bodyPr>
          <a:lstStyle/>
          <a:p>
            <a:pPr algn="ctr"/>
            <a:r>
              <a:rPr lang="en-US" sz="3200" b="1" dirty="0" err="1">
                <a:latin typeface="Times New Roman" panose="02020603050405020304" pitchFamily="18" charset="0"/>
                <a:cs typeface="Times New Roman" panose="02020603050405020304" pitchFamily="18" charset="0"/>
              </a:rPr>
              <a:t>EatWise</a:t>
            </a:r>
            <a:r>
              <a:rPr lang="en-US" sz="3200" b="1" dirty="0">
                <a:latin typeface="Times New Roman" panose="02020603050405020304" pitchFamily="18" charset="0"/>
                <a:cs typeface="Times New Roman" panose="02020603050405020304" pitchFamily="18" charset="0"/>
              </a:rPr>
              <a:t> : AI-Based Food Expiry, Usage &amp; Nutrition Optimizer</a:t>
            </a:r>
            <a:endParaRPr lang="en-IN" sz="3200"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7B68E39C-376B-4992-9C7D-1A0C9D2517FC}"/>
              </a:ext>
            </a:extLst>
          </p:cNvPr>
          <p:cNvSpPr txBox="1"/>
          <p:nvPr/>
        </p:nvSpPr>
        <p:spPr>
          <a:xfrm>
            <a:off x="942973" y="2368241"/>
            <a:ext cx="10658475" cy="3673121"/>
          </a:xfrm>
          <a:prstGeom prst="rect">
            <a:avLst/>
          </a:prstGeom>
          <a:noFill/>
        </p:spPr>
        <p:txBody>
          <a:bodyPr wrap="square" rtlCol="0">
            <a:spAutoFit/>
          </a:bodyPr>
          <a:lstStyle/>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Category: </a:t>
            </a:r>
            <a:r>
              <a:rPr lang="en-IN" sz="2400" dirty="0">
                <a:latin typeface="Times New Roman" panose="02020603050405020304" pitchFamily="18" charset="0"/>
                <a:cs typeface="Times New Roman" panose="02020603050405020304" pitchFamily="18" charset="0"/>
              </a:rPr>
              <a:t>Software</a:t>
            </a: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SDG: </a:t>
            </a:r>
            <a:r>
              <a:rPr lang="en-US" sz="2400" dirty="0">
                <a:latin typeface="Times New Roman" panose="02020603050405020304" pitchFamily="18" charset="0"/>
                <a:cs typeface="Times New Roman" panose="02020603050405020304" pitchFamily="18" charset="0"/>
              </a:rPr>
              <a:t>Goal 12- Responsible Consumption and Production</a:t>
            </a:r>
            <a:endParaRPr lang="en-IN" sz="2400"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Group Number: </a:t>
            </a:r>
            <a:r>
              <a:rPr lang="en-IN" sz="2400" dirty="0">
                <a:latin typeface="Times New Roman" panose="02020603050405020304" pitchFamily="18" charset="0"/>
                <a:cs typeface="Times New Roman" panose="02020603050405020304" pitchFamily="18" charset="0"/>
              </a:rPr>
              <a:t>14</a:t>
            </a:r>
            <a:endParaRPr lang="en-IN" sz="2400" b="1" dirty="0">
              <a:latin typeface="Times New Roman" panose="02020603050405020304" pitchFamily="18" charset="0"/>
              <a:cs typeface="Times New Roman" panose="02020603050405020304" pitchFamily="18" charset="0"/>
            </a:endParaRP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Group Members: </a:t>
            </a:r>
            <a:r>
              <a:rPr lang="en-IN" sz="2400" dirty="0">
                <a:latin typeface="Times New Roman" panose="02020603050405020304" pitchFamily="18" charset="0"/>
                <a:cs typeface="Times New Roman" panose="02020603050405020304" pitchFamily="18" charset="0"/>
              </a:rPr>
              <a:t>Aditi Gujar, Vaishnavi </a:t>
            </a:r>
            <a:r>
              <a:rPr lang="en-IN" sz="2400" dirty="0" err="1">
                <a:latin typeface="Times New Roman" panose="02020603050405020304" pitchFamily="18" charset="0"/>
                <a:cs typeface="Times New Roman" panose="02020603050405020304" pitchFamily="18" charset="0"/>
              </a:rPr>
              <a:t>Bagmar</a:t>
            </a:r>
            <a:r>
              <a:rPr lang="en-IN" sz="2400" dirty="0">
                <a:latin typeface="Times New Roman" panose="02020603050405020304" pitchFamily="18" charset="0"/>
                <a:cs typeface="Times New Roman" panose="02020603050405020304" pitchFamily="18" charset="0"/>
              </a:rPr>
              <a:t>, Karina Jain, Saniya Dhopavkar</a:t>
            </a:r>
          </a:p>
          <a:p>
            <a:pPr marL="342900" indent="-342900">
              <a:lnSpc>
                <a:spcPct val="200000"/>
              </a:lnSpc>
              <a:buFont typeface="Arial" panose="020B0604020202020204" pitchFamily="34" charset="0"/>
              <a:buChar char="•"/>
            </a:pPr>
            <a:r>
              <a:rPr lang="en-IN" sz="2400" b="1" dirty="0">
                <a:latin typeface="Times New Roman" panose="02020603050405020304" pitchFamily="18" charset="0"/>
                <a:cs typeface="Times New Roman" panose="02020603050405020304" pitchFamily="18" charset="0"/>
              </a:rPr>
              <a:t>Guide:  </a:t>
            </a:r>
            <a:r>
              <a:rPr lang="en-IN" sz="2400" dirty="0">
                <a:latin typeface="Times New Roman" panose="02020603050405020304" pitchFamily="18" charset="0"/>
                <a:cs typeface="Times New Roman" panose="02020603050405020304" pitchFamily="18" charset="0"/>
              </a:rPr>
              <a:t>Dr. Mahesh </a:t>
            </a:r>
            <a:r>
              <a:rPr lang="en-IN" sz="2400" dirty="0" err="1">
                <a:latin typeface="Times New Roman" panose="02020603050405020304" pitchFamily="18" charset="0"/>
                <a:cs typeface="Times New Roman" panose="02020603050405020304" pitchFamily="18" charset="0"/>
              </a:rPr>
              <a:t>Pawaskar</a:t>
            </a:r>
            <a:endParaRPr lang="en-IN" sz="2400" dirty="0">
              <a:latin typeface="Times New Roman" panose="02020603050405020304" pitchFamily="18" charset="0"/>
              <a:cs typeface="Times New Roman" panose="02020603050405020304" pitchFamily="18" charset="0"/>
            </a:endParaRPr>
          </a:p>
        </p:txBody>
      </p:sp>
      <p:sp>
        <p:nvSpPr>
          <p:cNvPr id="9" name="Slide Number Placeholder 8">
            <a:extLst>
              <a:ext uri="{FF2B5EF4-FFF2-40B4-BE49-F238E27FC236}">
                <a16:creationId xmlns:a16="http://schemas.microsoft.com/office/drawing/2014/main" id="{B5B60473-2CAB-41E8-A5B8-2FC3D587CBB2}"/>
              </a:ext>
            </a:extLst>
          </p:cNvPr>
          <p:cNvSpPr>
            <a:spLocks noGrp="1"/>
          </p:cNvSpPr>
          <p:nvPr>
            <p:ph type="sldNum" sz="quarter" idx="12"/>
          </p:nvPr>
        </p:nvSpPr>
        <p:spPr/>
        <p:txBody>
          <a:bodyPr/>
          <a:lstStyle/>
          <a:p>
            <a:fld id="{1E2AE893-BA06-4F67-8C19-46525B8E0FBB}" type="slidenum">
              <a:rPr lang="en-IN" smtClean="0"/>
              <a:t>1</a:t>
            </a:fld>
            <a:endParaRPr lang="en-IN" dirty="0"/>
          </a:p>
        </p:txBody>
      </p:sp>
      <p:cxnSp>
        <p:nvCxnSpPr>
          <p:cNvPr id="2" name="Straight Connector 1">
            <a:extLst>
              <a:ext uri="{FF2B5EF4-FFF2-40B4-BE49-F238E27FC236}">
                <a16:creationId xmlns:a16="http://schemas.microsoft.com/office/drawing/2014/main" id="{06362D6C-DED4-C6DA-405C-66C0BE62717D}"/>
              </a:ext>
            </a:extLst>
          </p:cNvPr>
          <p:cNvCxnSpPr>
            <a:cxnSpLocks/>
          </p:cNvCxnSpPr>
          <p:nvPr/>
        </p:nvCxnSpPr>
        <p:spPr>
          <a:xfrm>
            <a:off x="0" y="1353330"/>
            <a:ext cx="12192000" cy="0"/>
          </a:xfrm>
          <a:prstGeom prst="line">
            <a:avLst/>
          </a:prstGeom>
          <a:ln>
            <a:solidFill>
              <a:schemeClr val="tx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03330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AA590-B12C-40B4-9FEF-1163414A654D}"/>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Presentation Outline:</a:t>
            </a:r>
          </a:p>
        </p:txBody>
      </p:sp>
      <p:sp>
        <p:nvSpPr>
          <p:cNvPr id="3" name="Content Placeholder 2">
            <a:extLst>
              <a:ext uri="{FF2B5EF4-FFF2-40B4-BE49-F238E27FC236}">
                <a16:creationId xmlns:a16="http://schemas.microsoft.com/office/drawing/2014/main" id="{47A308B0-8C32-4BC4-9160-3BE586FC6C3B}"/>
              </a:ext>
            </a:extLst>
          </p:cNvPr>
          <p:cNvSpPr>
            <a:spLocks noGrp="1"/>
          </p:cNvSpPr>
          <p:nvPr>
            <p:ph idx="1"/>
          </p:nvPr>
        </p:nvSpPr>
        <p:spPr>
          <a:xfrm>
            <a:off x="557413" y="1488613"/>
            <a:ext cx="8596668" cy="3880773"/>
          </a:xfrm>
        </p:spPr>
        <p:txBody>
          <a:bodyPr>
            <a:noAutofit/>
          </a:bodyPr>
          <a:lstStyle/>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Introduction &amp; SDG mapped</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Literature Survey</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Limitations in Existing Systems</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Problem Statement</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Proposed Solution &amp; Structure</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Experimental Setup</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Implementation</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Conclusion</a:t>
            </a:r>
          </a:p>
          <a:p>
            <a:pPr algn="just">
              <a:lnSpc>
                <a:spcPts val="2640"/>
              </a:lnSpc>
              <a:spcBef>
                <a:spcPts val="0"/>
              </a:spcBef>
              <a:spcAft>
                <a:spcPts val="1800"/>
              </a:spcAft>
            </a:pPr>
            <a:r>
              <a:rPr lang="en-US" sz="2100" dirty="0">
                <a:latin typeface="Times New Roman" panose="02020603050405020304" pitchFamily="18" charset="0"/>
                <a:cs typeface="Times New Roman" panose="02020603050405020304" pitchFamily="18" charset="0"/>
              </a:rPr>
              <a:t>Research &amp; References</a:t>
            </a:r>
          </a:p>
        </p:txBody>
      </p:sp>
      <p:sp>
        <p:nvSpPr>
          <p:cNvPr id="5" name="Slide Number Placeholder 4">
            <a:extLst>
              <a:ext uri="{FF2B5EF4-FFF2-40B4-BE49-F238E27FC236}">
                <a16:creationId xmlns:a16="http://schemas.microsoft.com/office/drawing/2014/main" id="{EF2C5B87-1FBA-49DD-A74F-05EB7C0F28DD}"/>
              </a:ext>
            </a:extLst>
          </p:cNvPr>
          <p:cNvSpPr>
            <a:spLocks noGrp="1"/>
          </p:cNvSpPr>
          <p:nvPr>
            <p:ph type="sldNum" sz="quarter" idx="12"/>
          </p:nvPr>
        </p:nvSpPr>
        <p:spPr/>
        <p:txBody>
          <a:bodyPr/>
          <a:lstStyle/>
          <a:p>
            <a:fld id="{1E2AE893-BA06-4F67-8C19-46525B8E0FBB}" type="slidenum">
              <a:rPr lang="en-IN" smtClean="0"/>
              <a:pPr/>
              <a:t>2</a:t>
            </a:fld>
            <a:endParaRPr lang="en-IN"/>
          </a:p>
        </p:txBody>
      </p:sp>
    </p:spTree>
    <p:extLst>
      <p:ext uri="{BB962C8B-B14F-4D97-AF65-F5344CB8AC3E}">
        <p14:creationId xmlns:p14="http://schemas.microsoft.com/office/powerpoint/2010/main" val="688827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BE87B25-CC15-9F79-0896-31C1E571358E}"/>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Introduction:</a:t>
            </a:r>
          </a:p>
        </p:txBody>
      </p:sp>
      <p:sp>
        <p:nvSpPr>
          <p:cNvPr id="10" name="Rectangle 2">
            <a:extLst>
              <a:ext uri="{FF2B5EF4-FFF2-40B4-BE49-F238E27FC236}">
                <a16:creationId xmlns:a16="http://schemas.microsoft.com/office/drawing/2014/main" id="{C1E2F383-E497-A07F-B386-14895C02D69B}"/>
              </a:ext>
            </a:extLst>
          </p:cNvPr>
          <p:cNvSpPr>
            <a:spLocks noGrp="1" noChangeArrowheads="1"/>
          </p:cNvSpPr>
          <p:nvPr>
            <p:ph idx="1"/>
          </p:nvPr>
        </p:nvSpPr>
        <p:spPr bwMode="auto">
          <a:xfrm>
            <a:off x="707571" y="1113748"/>
            <a:ext cx="9176657" cy="5109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None/>
              <a:tabLst/>
            </a:pPr>
            <a:r>
              <a:rPr kumimoji="0" lang="en-US" altLang="en-US" sz="22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EatWise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an AI-based smart food management app designed to reduce food waste and improve healthy eating habits.</a:t>
            </a:r>
          </a:p>
          <a:p>
            <a:pPr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helps users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track food expiry, nutrition, and allergens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barcode scanning or manual entry.</a:t>
            </a:r>
          </a:p>
          <a:p>
            <a:pPr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app gives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personalized food suggestions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based on user goals like weight gain, weight loss, or maintenance.</a:t>
            </a:r>
          </a:p>
          <a:p>
            <a:pPr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EatWise</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predicts which food should be used first and sends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expiry and usage alerts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avoid wastage.</a:t>
            </a:r>
          </a:p>
          <a:p>
            <a:pPr eaLnBrk="0" fontAlgn="base" hangingPunct="0">
              <a:lnSpc>
                <a:spcPct val="150000"/>
              </a:lnSpc>
              <a:spcBef>
                <a:spcPct val="0"/>
              </a:spcBef>
              <a:spcAft>
                <a:spcPct val="0"/>
              </a:spcAft>
              <a:buFont typeface="Arial" panose="020B0604020202020204" pitchFamily="34" charset="0"/>
              <a:buChar char="•"/>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supports the theme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“Responsible Consumption and Production”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promoting sustainable food practices.</a:t>
            </a:r>
          </a:p>
        </p:txBody>
      </p:sp>
      <p:sp>
        <p:nvSpPr>
          <p:cNvPr id="5" name="Slide Number Placeholder 4">
            <a:extLst>
              <a:ext uri="{FF2B5EF4-FFF2-40B4-BE49-F238E27FC236}">
                <a16:creationId xmlns:a16="http://schemas.microsoft.com/office/drawing/2014/main" id="{6B60597F-3D61-F81F-B0FC-D207B3E2EED6}"/>
              </a:ext>
            </a:extLst>
          </p:cNvPr>
          <p:cNvSpPr>
            <a:spLocks noGrp="1"/>
          </p:cNvSpPr>
          <p:nvPr>
            <p:ph type="sldNum" sz="quarter" idx="12"/>
          </p:nvPr>
        </p:nvSpPr>
        <p:spPr/>
        <p:txBody>
          <a:bodyPr/>
          <a:lstStyle/>
          <a:p>
            <a:fld id="{1E2AE893-BA06-4F67-8C19-46525B8E0FBB}" type="slidenum">
              <a:rPr lang="en-IN" smtClean="0">
                <a:latin typeface="Times New Roman" panose="02020603050405020304" pitchFamily="18" charset="0"/>
                <a:cs typeface="Times New Roman" panose="02020603050405020304" pitchFamily="18" charset="0"/>
              </a:rPr>
              <a:pPr/>
              <a:t>3</a:t>
            </a:fld>
            <a:endParaRPr lang="en-IN">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78644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302F6425-7254-3A4A-2AD3-0487C928CBCA}"/>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Sustainable Development Goal:</a:t>
            </a:r>
          </a:p>
        </p:txBody>
      </p:sp>
      <p:sp>
        <p:nvSpPr>
          <p:cNvPr id="7" name="Content Placeholder 2">
            <a:extLst>
              <a:ext uri="{FF2B5EF4-FFF2-40B4-BE49-F238E27FC236}">
                <a16:creationId xmlns:a16="http://schemas.microsoft.com/office/drawing/2014/main" id="{5D7EF603-ACAB-155F-6339-E212FF4ACC57}"/>
              </a:ext>
            </a:extLst>
          </p:cNvPr>
          <p:cNvSpPr>
            <a:spLocks noGrp="1"/>
          </p:cNvSpPr>
          <p:nvPr>
            <p:ph idx="1"/>
          </p:nvPr>
        </p:nvSpPr>
        <p:spPr>
          <a:xfrm>
            <a:off x="566057" y="1227374"/>
            <a:ext cx="7587343" cy="4948233"/>
          </a:xfrm>
        </p:spPr>
        <p:txBody>
          <a:bodyPr>
            <a:noAutofit/>
          </a:bodyPr>
          <a:lstStyle/>
          <a:p>
            <a:pPr marL="230400" algn="just">
              <a:lnSpc>
                <a:spcPts val="3200"/>
              </a:lnSpc>
              <a:spcBef>
                <a:spcPts val="0"/>
              </a:spcBef>
              <a:spcAft>
                <a:spcPts val="1800"/>
              </a:spcAft>
            </a:pPr>
            <a:r>
              <a:rPr lang="en-US" sz="2200" dirty="0">
                <a:solidFill>
                  <a:schemeClr val="tx1"/>
                </a:solidFill>
                <a:latin typeface="Times New Roman" panose="02020603050405020304" pitchFamily="18" charset="0"/>
                <a:cs typeface="Times New Roman" panose="02020603050405020304" pitchFamily="18" charset="0"/>
              </a:rPr>
              <a:t>This project contributes to </a:t>
            </a:r>
            <a:r>
              <a:rPr lang="en-US" sz="2200" b="1" dirty="0">
                <a:solidFill>
                  <a:schemeClr val="tx1"/>
                </a:solidFill>
                <a:latin typeface="Times New Roman" panose="02020603050405020304" pitchFamily="18" charset="0"/>
                <a:cs typeface="Times New Roman" panose="02020603050405020304" pitchFamily="18" charset="0"/>
              </a:rPr>
              <a:t>SDG Goal 12 (Responsible Consumption and Production)</a:t>
            </a:r>
            <a:r>
              <a:rPr lang="en-US" sz="2200" dirty="0">
                <a:solidFill>
                  <a:schemeClr val="tx1"/>
                </a:solidFill>
                <a:latin typeface="Times New Roman" panose="02020603050405020304" pitchFamily="18" charset="0"/>
                <a:cs typeface="Times New Roman" panose="02020603050405020304" pitchFamily="18" charset="0"/>
              </a:rPr>
              <a:t> by reducing food waste and encouraging smarter food usage through digital technology. </a:t>
            </a:r>
            <a:r>
              <a:rPr lang="en-US" sz="2200" dirty="0" err="1">
                <a:solidFill>
                  <a:schemeClr val="tx1"/>
                </a:solidFill>
                <a:latin typeface="Times New Roman" panose="02020603050405020304" pitchFamily="18" charset="0"/>
                <a:cs typeface="Times New Roman" panose="02020603050405020304" pitchFamily="18" charset="0"/>
              </a:rPr>
              <a:t>EatWise</a:t>
            </a:r>
            <a:r>
              <a:rPr lang="en-US" sz="2200" dirty="0">
                <a:solidFill>
                  <a:schemeClr val="tx1"/>
                </a:solidFill>
                <a:latin typeface="Times New Roman" panose="02020603050405020304" pitchFamily="18" charset="0"/>
                <a:cs typeface="Times New Roman" panose="02020603050405020304" pitchFamily="18" charset="0"/>
              </a:rPr>
              <a:t> uses barcode scanning, expiry tracking, and nutrition analysis to help users make informed food choices and avoid unnecessary wastage. </a:t>
            </a:r>
          </a:p>
          <a:p>
            <a:pPr marL="230400" algn="just">
              <a:lnSpc>
                <a:spcPts val="3200"/>
              </a:lnSpc>
              <a:spcBef>
                <a:spcPts val="0"/>
              </a:spcBef>
              <a:spcAft>
                <a:spcPts val="1800"/>
              </a:spcAft>
            </a:pPr>
            <a:r>
              <a:rPr lang="en-US" sz="2200" dirty="0">
                <a:solidFill>
                  <a:schemeClr val="tx1"/>
                </a:solidFill>
                <a:latin typeface="Times New Roman" panose="02020603050405020304" pitchFamily="18" charset="0"/>
                <a:cs typeface="Times New Roman" panose="02020603050405020304" pitchFamily="18" charset="0"/>
              </a:rPr>
              <a:t>By providing real-time alerts, usage priority, and health-based recommendations, the system promotes responsible consumption habits at the household and restaurant level. The project supports sustainable resource use by minimizing waste of food, water, energy, and money, while encouraging a more conscious and efficient food management system.</a:t>
            </a:r>
          </a:p>
        </p:txBody>
      </p:sp>
      <p:sp>
        <p:nvSpPr>
          <p:cNvPr id="5" name="Slide Number Placeholder 4">
            <a:extLst>
              <a:ext uri="{FF2B5EF4-FFF2-40B4-BE49-F238E27FC236}">
                <a16:creationId xmlns:a16="http://schemas.microsoft.com/office/drawing/2014/main" id="{159FB0BF-9AB2-E2CC-8003-136AF97BDAAA}"/>
              </a:ext>
            </a:extLst>
          </p:cNvPr>
          <p:cNvSpPr>
            <a:spLocks noGrp="1"/>
          </p:cNvSpPr>
          <p:nvPr>
            <p:ph type="sldNum" sz="quarter" idx="12"/>
          </p:nvPr>
        </p:nvSpPr>
        <p:spPr/>
        <p:txBody>
          <a:bodyPr/>
          <a:lstStyle/>
          <a:p>
            <a:fld id="{1E2AE893-BA06-4F67-8C19-46525B8E0FBB}" type="slidenum">
              <a:rPr lang="en-IN" smtClean="0"/>
              <a:pPr/>
              <a:t>4</a:t>
            </a:fld>
            <a:endParaRPr lang="en-IN"/>
          </a:p>
        </p:txBody>
      </p:sp>
      <p:pic>
        <p:nvPicPr>
          <p:cNvPr id="9" name="Picture 8">
            <a:extLst>
              <a:ext uri="{FF2B5EF4-FFF2-40B4-BE49-F238E27FC236}">
                <a16:creationId xmlns:a16="http://schemas.microsoft.com/office/drawing/2014/main" id="{9C4EEE35-04E7-CEC6-6D71-920A78E42E97}"/>
              </a:ext>
            </a:extLst>
          </p:cNvPr>
          <p:cNvPicPr>
            <a:picLocks noChangeAspect="1"/>
          </p:cNvPicPr>
          <p:nvPr/>
        </p:nvPicPr>
        <p:blipFill>
          <a:blip r:embed="rId2"/>
          <a:stretch>
            <a:fillRect/>
          </a:stretch>
        </p:blipFill>
        <p:spPr>
          <a:xfrm>
            <a:off x="8381999" y="1903417"/>
            <a:ext cx="3597503" cy="3597503"/>
          </a:xfrm>
          <a:prstGeom prst="rect">
            <a:avLst/>
          </a:prstGeom>
        </p:spPr>
      </p:pic>
    </p:spTree>
    <p:extLst>
      <p:ext uri="{BB962C8B-B14F-4D97-AF65-F5344CB8AC3E}">
        <p14:creationId xmlns:p14="http://schemas.microsoft.com/office/powerpoint/2010/main" val="28720413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6BCA46-EE99-8EC5-954B-93E2DB47621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28F7E47-0913-768E-BCE8-C81C4F6BBE88}"/>
              </a:ext>
            </a:extLst>
          </p:cNvPr>
          <p:cNvSpPr>
            <a:spLocks noGrp="1"/>
          </p:cNvSpPr>
          <p:nvPr>
            <p:ph type="title"/>
          </p:nvPr>
        </p:nvSpPr>
        <p:spPr>
          <a:xfrm>
            <a:off x="677334" y="451513"/>
            <a:ext cx="8596668" cy="1320800"/>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Literature Survey:</a:t>
            </a:r>
          </a:p>
        </p:txBody>
      </p:sp>
      <p:graphicFrame>
        <p:nvGraphicFramePr>
          <p:cNvPr id="3" name="Content Placeholder 2">
            <a:extLst>
              <a:ext uri="{FF2B5EF4-FFF2-40B4-BE49-F238E27FC236}">
                <a16:creationId xmlns:a16="http://schemas.microsoft.com/office/drawing/2014/main" id="{DB322EF7-997E-79EB-A2BD-316F97FDD390}"/>
              </a:ext>
            </a:extLst>
          </p:cNvPr>
          <p:cNvGraphicFramePr>
            <a:graphicFrameLocks noGrp="1"/>
          </p:cNvGraphicFramePr>
          <p:nvPr>
            <p:ph idx="1"/>
            <p:extLst>
              <p:ext uri="{D42A27DB-BD31-4B8C-83A1-F6EECF244321}">
                <p14:modId xmlns:p14="http://schemas.microsoft.com/office/powerpoint/2010/main" val="2452811941"/>
              </p:ext>
            </p:extLst>
          </p:nvPr>
        </p:nvGraphicFramePr>
        <p:xfrm>
          <a:off x="377887" y="1274163"/>
          <a:ext cx="10714833" cy="5372162"/>
        </p:xfrm>
        <a:graphic>
          <a:graphicData uri="http://schemas.openxmlformats.org/drawingml/2006/table">
            <a:tbl>
              <a:tblPr firstRow="1" bandRow="1">
                <a:tableStyleId>{5C22544A-7EE6-4342-B048-85BDC9FD1C3A}</a:tableStyleId>
              </a:tblPr>
              <a:tblGrid>
                <a:gridCol w="2162932">
                  <a:extLst>
                    <a:ext uri="{9D8B030D-6E8A-4147-A177-3AD203B41FA5}">
                      <a16:colId xmlns:a16="http://schemas.microsoft.com/office/drawing/2014/main" val="4268768259"/>
                    </a:ext>
                  </a:extLst>
                </a:gridCol>
                <a:gridCol w="2606612">
                  <a:extLst>
                    <a:ext uri="{9D8B030D-6E8A-4147-A177-3AD203B41FA5}">
                      <a16:colId xmlns:a16="http://schemas.microsoft.com/office/drawing/2014/main" val="1111945643"/>
                    </a:ext>
                  </a:extLst>
                </a:gridCol>
                <a:gridCol w="5945289">
                  <a:extLst>
                    <a:ext uri="{9D8B030D-6E8A-4147-A177-3AD203B41FA5}">
                      <a16:colId xmlns:a16="http://schemas.microsoft.com/office/drawing/2014/main" val="3677180337"/>
                    </a:ext>
                  </a:extLst>
                </a:gridCol>
              </a:tblGrid>
              <a:tr h="418535">
                <a:tc>
                  <a:txBody>
                    <a:bodyPr/>
                    <a:lstStyle/>
                    <a:p>
                      <a:r>
                        <a:rPr lang="en-US" sz="1800" dirty="0">
                          <a:latin typeface="Times New Roman" panose="02020603050405020304" pitchFamily="18" charset="0"/>
                          <a:cs typeface="Times New Roman" panose="02020603050405020304" pitchFamily="18" charset="0"/>
                        </a:rPr>
                        <a:t>Authors/ Years</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Techniques/ Methods</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Key Points</a:t>
                      </a:r>
                      <a:endParaRPr lang="en-IN" sz="1800" dirty="0">
                        <a:latin typeface="Times New Roman" panose="02020603050405020304" pitchFamily="18" charset="0"/>
                        <a:cs typeface="Times New Roman" panose="02020603050405020304" pitchFamily="18" charset="0"/>
                      </a:endParaRPr>
                    </a:p>
                  </a:txBody>
                  <a:tcPr marL="74751" marR="74751"/>
                </a:tc>
                <a:extLst>
                  <a:ext uri="{0D108BD9-81ED-4DB2-BD59-A6C34878D82A}">
                    <a16:rowId xmlns:a16="http://schemas.microsoft.com/office/drawing/2014/main" val="4044383656"/>
                  </a:ext>
                </a:extLst>
              </a:tr>
              <a:tr h="1651209">
                <a:tc>
                  <a:txBody>
                    <a:bodyPr/>
                    <a:lstStyle/>
                    <a:p>
                      <a:r>
                        <a:rPr lang="da-DK" sz="1800" dirty="0">
                          <a:latin typeface="Times New Roman" panose="02020603050405020304" pitchFamily="18" charset="0"/>
                          <a:cs typeface="Times New Roman" panose="02020603050405020304" pitchFamily="18" charset="0"/>
                        </a:rPr>
                        <a:t>Sneha Chauhan et al., NCAIDT 2025</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Web-based food inventory tracking; AI for expiry prediction; AI recipe suggestion; role-based access control</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Developed a scalable web platform for intelligent food tracking and recipe suggestions; uses AI to predict shelf life and provide personalized suggestions to reduce food waste; includes household, business, and admin roles; integrates React.js, Laravel, MySQL and Python modules.</a:t>
                      </a:r>
                      <a:endParaRPr lang="en-IN" sz="1800" dirty="0">
                        <a:latin typeface="Times New Roman" panose="02020603050405020304" pitchFamily="18" charset="0"/>
                        <a:cs typeface="Times New Roman" panose="02020603050405020304" pitchFamily="18" charset="0"/>
                      </a:endParaRPr>
                    </a:p>
                  </a:txBody>
                  <a:tcPr marL="74751" marR="74751"/>
                </a:tc>
                <a:extLst>
                  <a:ext uri="{0D108BD9-81ED-4DB2-BD59-A6C34878D82A}">
                    <a16:rowId xmlns:a16="http://schemas.microsoft.com/office/drawing/2014/main" val="820786881"/>
                  </a:ext>
                </a:extLst>
              </a:tr>
              <a:tr h="1651209">
                <a:tc>
                  <a:txBody>
                    <a:bodyPr/>
                    <a:lstStyle/>
                    <a:p>
                      <a:r>
                        <a:rPr lang="en-US" sz="1800" dirty="0">
                          <a:latin typeface="Times New Roman" panose="02020603050405020304" pitchFamily="18" charset="0"/>
                          <a:cs typeface="Times New Roman" panose="02020603050405020304" pitchFamily="18" charset="0"/>
                        </a:rPr>
                        <a:t>Helen </a:t>
                      </a:r>
                      <a:r>
                        <a:rPr lang="en-US" sz="1800" dirty="0" err="1">
                          <a:latin typeface="Times New Roman" panose="02020603050405020304" pitchFamily="18" charset="0"/>
                          <a:cs typeface="Times New Roman" panose="02020603050405020304" pitchFamily="18" charset="0"/>
                        </a:rPr>
                        <a:t>Onyeaka</a:t>
                      </a:r>
                      <a:r>
                        <a:rPr lang="en-US" sz="1800" dirty="0">
                          <a:latin typeface="Times New Roman" panose="02020603050405020304" pitchFamily="18" charset="0"/>
                          <a:cs typeface="Times New Roman" panose="02020603050405020304" pitchFamily="18" charset="0"/>
                        </a:rPr>
                        <a:t> et al., </a:t>
                      </a:r>
                      <a:r>
                        <a:rPr lang="en-US" sz="1800" i="1" dirty="0">
                          <a:latin typeface="Times New Roman" panose="02020603050405020304" pitchFamily="18" charset="0"/>
                          <a:cs typeface="Times New Roman" panose="02020603050405020304" pitchFamily="18" charset="0"/>
                        </a:rPr>
                        <a:t>Journal of Agriculture and Food Research</a:t>
                      </a:r>
                      <a:r>
                        <a:rPr lang="en-US" sz="1800" dirty="0">
                          <a:latin typeface="Times New Roman" panose="02020603050405020304" pitchFamily="18" charset="0"/>
                          <a:cs typeface="Times New Roman" panose="02020603050405020304" pitchFamily="18" charset="0"/>
                        </a:rPr>
                        <a:t> 2025</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AI techniques including machine learning, predictive analytics for food spoilage prediction</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Reviews the application of AI models to predict food spoilage and reduce food waste; highlights early detection systems and dynamic algorithms; discusses successful industry cases (Shelf Engine, Afresh, IKEA) showing significant waste reduction, while noting challenges in data quality and integration.</a:t>
                      </a:r>
                      <a:endParaRPr lang="en-IN" sz="1800" dirty="0">
                        <a:latin typeface="Times New Roman" panose="02020603050405020304" pitchFamily="18" charset="0"/>
                        <a:cs typeface="Times New Roman" panose="02020603050405020304" pitchFamily="18" charset="0"/>
                      </a:endParaRPr>
                    </a:p>
                  </a:txBody>
                  <a:tcPr marL="74751" marR="74751"/>
                </a:tc>
                <a:extLst>
                  <a:ext uri="{0D108BD9-81ED-4DB2-BD59-A6C34878D82A}">
                    <a16:rowId xmlns:a16="http://schemas.microsoft.com/office/drawing/2014/main" val="3294388152"/>
                  </a:ext>
                </a:extLst>
              </a:tr>
              <a:tr h="1651209">
                <a:tc>
                  <a:txBody>
                    <a:bodyPr/>
                    <a:lstStyle/>
                    <a:p>
                      <a:r>
                        <a:rPr lang="en-US" sz="1800" dirty="0">
                          <a:latin typeface="Times New Roman" panose="02020603050405020304" pitchFamily="18" charset="0"/>
                          <a:cs typeface="Times New Roman" panose="02020603050405020304" pitchFamily="18" charset="0"/>
                        </a:rPr>
                        <a:t>Khuram Shehzad, </a:t>
                      </a:r>
                      <a:r>
                        <a:rPr lang="en-US" sz="1800" i="1" dirty="0">
                          <a:latin typeface="Times New Roman" panose="02020603050405020304" pitchFamily="18" charset="0"/>
                          <a:cs typeface="Times New Roman" panose="02020603050405020304" pitchFamily="18" charset="0"/>
                        </a:rPr>
                        <a:t>Global Trends in Science and Technology</a:t>
                      </a:r>
                      <a:r>
                        <a:rPr lang="en-US" sz="1800" dirty="0">
                          <a:latin typeface="Times New Roman" panose="02020603050405020304" pitchFamily="18" charset="0"/>
                          <a:cs typeface="Times New Roman" panose="02020603050405020304" pitchFamily="18" charset="0"/>
                        </a:rPr>
                        <a:t> 2025</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AI predictive models (ML, deep learning), sensors, spectroscopy, environmental data for spoilage estimation</a:t>
                      </a:r>
                      <a:endParaRPr lang="en-IN" sz="1800" dirty="0">
                        <a:latin typeface="Times New Roman" panose="02020603050405020304" pitchFamily="18" charset="0"/>
                        <a:cs typeface="Times New Roman" panose="02020603050405020304" pitchFamily="18" charset="0"/>
                      </a:endParaRPr>
                    </a:p>
                  </a:txBody>
                  <a:tcPr marL="74751" marR="74751"/>
                </a:tc>
                <a:tc>
                  <a:txBody>
                    <a:bodyPr/>
                    <a:lstStyle/>
                    <a:p>
                      <a:r>
                        <a:rPr lang="en-US" sz="1800" dirty="0">
                          <a:latin typeface="Times New Roman" panose="02020603050405020304" pitchFamily="18" charset="0"/>
                          <a:cs typeface="Times New Roman" panose="02020603050405020304" pitchFamily="18" charset="0"/>
                        </a:rPr>
                        <a:t>Presents AI-driven predictive models to estimate food spoilage based on factors like temperature and humidity; discusses use of CNN, regression, and hybrid models for improved shelf-life estimation; identifies challenges like limited data, model accuracy, and high implementation cost.</a:t>
                      </a:r>
                      <a:endParaRPr lang="en-IN" sz="1800" dirty="0">
                        <a:latin typeface="Times New Roman" panose="02020603050405020304" pitchFamily="18" charset="0"/>
                        <a:cs typeface="Times New Roman" panose="02020603050405020304" pitchFamily="18" charset="0"/>
                      </a:endParaRPr>
                    </a:p>
                  </a:txBody>
                  <a:tcPr marL="74751" marR="74751"/>
                </a:tc>
                <a:extLst>
                  <a:ext uri="{0D108BD9-81ED-4DB2-BD59-A6C34878D82A}">
                    <a16:rowId xmlns:a16="http://schemas.microsoft.com/office/drawing/2014/main" val="3905846098"/>
                  </a:ext>
                </a:extLst>
              </a:tr>
            </a:tbl>
          </a:graphicData>
        </a:graphic>
      </p:graphicFrame>
      <p:sp>
        <p:nvSpPr>
          <p:cNvPr id="5" name="Slide Number Placeholder 4">
            <a:extLst>
              <a:ext uri="{FF2B5EF4-FFF2-40B4-BE49-F238E27FC236}">
                <a16:creationId xmlns:a16="http://schemas.microsoft.com/office/drawing/2014/main" id="{7D1691B9-8DAD-2713-B612-36C6FABB942B}"/>
              </a:ext>
            </a:extLst>
          </p:cNvPr>
          <p:cNvSpPr>
            <a:spLocks noGrp="1"/>
          </p:cNvSpPr>
          <p:nvPr>
            <p:ph type="sldNum" sz="quarter" idx="12"/>
          </p:nvPr>
        </p:nvSpPr>
        <p:spPr/>
        <p:txBody>
          <a:bodyPr/>
          <a:lstStyle/>
          <a:p>
            <a:fld id="{1E2AE893-BA06-4F67-8C19-46525B8E0FBB}" type="slidenum">
              <a:rPr lang="en-IN" smtClean="0"/>
              <a:pPr/>
              <a:t>5</a:t>
            </a:fld>
            <a:endParaRPr lang="en-IN"/>
          </a:p>
        </p:txBody>
      </p:sp>
    </p:spTree>
    <p:extLst>
      <p:ext uri="{BB962C8B-B14F-4D97-AF65-F5344CB8AC3E}">
        <p14:creationId xmlns:p14="http://schemas.microsoft.com/office/powerpoint/2010/main" val="3231499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B2343-DF31-7D09-88AE-0C1E4109D9B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Limitations of existing systems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E837C9AB-5A47-48D7-35AF-241C6B3FE2B7}"/>
              </a:ext>
            </a:extLst>
          </p:cNvPr>
          <p:cNvSpPr>
            <a:spLocks noGrp="1" noChangeArrowheads="1"/>
          </p:cNvSpPr>
          <p:nvPr>
            <p:ph idx="1"/>
          </p:nvPr>
        </p:nvSpPr>
        <p:spPr bwMode="auto">
          <a:xfrm>
            <a:off x="838200" y="1177729"/>
            <a:ext cx="10036629"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MyFitnessPal</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Focuses mainly on calorie and macro tracking.</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track food expiry.</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help in reducing food waste.</a:t>
            </a:r>
          </a:p>
          <a:p>
            <a:pPr eaLnBrk="0" fontAlgn="base" hangingPunct="0">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Yuka</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Scans food and gives health scores.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consider user goals like weight gain or loss.</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track expiry or inventory.</a:t>
            </a:r>
          </a:p>
          <a:p>
            <a:pPr eaLnBrk="0" fontAlgn="base" hangingPunct="0">
              <a:spcBef>
                <a:spcPct val="0"/>
              </a:spcBef>
              <a:spcAft>
                <a:spcPct val="0"/>
              </a:spcAft>
              <a:buFont typeface="Arial" panose="020B0604020202020204" pitchFamily="34" charset="0"/>
              <a:buChar char="•"/>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 of Milk</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manage shopping lists and pantry.</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analyze nutrition.</a:t>
            </a:r>
            <a:b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Does not suggest food based on health needs.</a:t>
            </a:r>
          </a:p>
        </p:txBody>
      </p:sp>
      <p:sp>
        <p:nvSpPr>
          <p:cNvPr id="5" name="Slide Number Placeholder 4">
            <a:extLst>
              <a:ext uri="{FF2B5EF4-FFF2-40B4-BE49-F238E27FC236}">
                <a16:creationId xmlns:a16="http://schemas.microsoft.com/office/drawing/2014/main" id="{B6187A58-542C-45CF-3C6E-BDB0513CB0C8}"/>
              </a:ext>
            </a:extLst>
          </p:cNvPr>
          <p:cNvSpPr>
            <a:spLocks noGrp="1"/>
          </p:cNvSpPr>
          <p:nvPr>
            <p:ph type="sldNum" sz="quarter" idx="12"/>
          </p:nvPr>
        </p:nvSpPr>
        <p:spPr/>
        <p:txBody>
          <a:bodyPr/>
          <a:lstStyle/>
          <a:p>
            <a:fld id="{1E2AE893-BA06-4F67-8C19-46525B8E0FBB}" type="slidenum">
              <a:rPr lang="en-IN" smtClean="0"/>
              <a:pPr/>
              <a:t>6</a:t>
            </a:fld>
            <a:endParaRPr lang="en-IN"/>
          </a:p>
        </p:txBody>
      </p:sp>
    </p:spTree>
    <p:extLst>
      <p:ext uri="{BB962C8B-B14F-4D97-AF65-F5344CB8AC3E}">
        <p14:creationId xmlns:p14="http://schemas.microsoft.com/office/powerpoint/2010/main" val="3242674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F86F387-7626-7FA7-F783-7B09DA203BAC}"/>
              </a:ext>
            </a:extLst>
          </p:cNvPr>
          <p:cNvSpPr>
            <a:spLocks noGrp="1"/>
          </p:cNvSpPr>
          <p:nvPr>
            <p:ph type="title"/>
          </p:nvPr>
        </p:nvSpPr>
        <p:spPr>
          <a:xfrm>
            <a:off x="742648" y="326572"/>
            <a:ext cx="8596668" cy="1320800"/>
          </a:xfrm>
        </p:spPr>
        <p:txBody>
          <a:bodyPr/>
          <a:lstStyle/>
          <a:p>
            <a:r>
              <a:rPr lang="en-IN" b="1" dirty="0">
                <a:solidFill>
                  <a:schemeClr val="tx1"/>
                </a:solidFill>
                <a:latin typeface="Times New Roman" panose="02020603050405020304" pitchFamily="18" charset="0"/>
                <a:cs typeface="Times New Roman" panose="02020603050405020304" pitchFamily="18" charset="0"/>
              </a:rPr>
              <a:t>Problem Statement:</a:t>
            </a:r>
          </a:p>
        </p:txBody>
      </p:sp>
      <p:sp>
        <p:nvSpPr>
          <p:cNvPr id="7" name="Content Placeholder 2">
            <a:extLst>
              <a:ext uri="{FF2B5EF4-FFF2-40B4-BE49-F238E27FC236}">
                <a16:creationId xmlns:a16="http://schemas.microsoft.com/office/drawing/2014/main" id="{9CE5E59F-77D4-2641-80D7-F18184CEC22B}"/>
              </a:ext>
            </a:extLst>
          </p:cNvPr>
          <p:cNvSpPr>
            <a:spLocks noGrp="1"/>
          </p:cNvSpPr>
          <p:nvPr>
            <p:ph idx="1"/>
          </p:nvPr>
        </p:nvSpPr>
        <p:spPr>
          <a:xfrm>
            <a:off x="122162" y="1104675"/>
            <a:ext cx="9783837" cy="3880773"/>
          </a:xfrm>
        </p:spPr>
        <p:txBody>
          <a:bodyPr lIns="540000" tIns="0" rIns="540000" bIns="360000" anchor="ctr">
            <a:noAutofit/>
          </a:bodyPr>
          <a:lstStyle/>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Food waste occurs due to poor expiry tracking and lack of awareness about food freshness and nutrition. A smart system like </a:t>
            </a:r>
            <a:r>
              <a:rPr lang="en-US" sz="2400" dirty="0" err="1">
                <a:solidFill>
                  <a:schemeClr val="tx1"/>
                </a:solidFill>
                <a:latin typeface="Times New Roman" panose="02020603050405020304" pitchFamily="18" charset="0"/>
                <a:cs typeface="Times New Roman" panose="02020603050405020304" pitchFamily="18" charset="0"/>
              </a:rPr>
              <a:t>EatWise</a:t>
            </a:r>
            <a:r>
              <a:rPr lang="en-US" sz="2400" dirty="0">
                <a:solidFill>
                  <a:schemeClr val="tx1"/>
                </a:solidFill>
                <a:latin typeface="Times New Roman" panose="02020603050405020304" pitchFamily="18" charset="0"/>
                <a:cs typeface="Times New Roman" panose="02020603050405020304" pitchFamily="18" charset="0"/>
              </a:rPr>
              <a:t> helps manage food inventory, track expiry, and promote healthier consumption while reducing waste.</a:t>
            </a:r>
          </a:p>
        </p:txBody>
      </p:sp>
      <p:sp>
        <p:nvSpPr>
          <p:cNvPr id="5" name="Slide Number Placeholder 4">
            <a:extLst>
              <a:ext uri="{FF2B5EF4-FFF2-40B4-BE49-F238E27FC236}">
                <a16:creationId xmlns:a16="http://schemas.microsoft.com/office/drawing/2014/main" id="{43B80FD8-0E22-3B83-EBD6-6B62548889D9}"/>
              </a:ext>
            </a:extLst>
          </p:cNvPr>
          <p:cNvSpPr>
            <a:spLocks noGrp="1"/>
          </p:cNvSpPr>
          <p:nvPr>
            <p:ph type="sldNum" sz="quarter" idx="12"/>
          </p:nvPr>
        </p:nvSpPr>
        <p:spPr/>
        <p:txBody>
          <a:bodyPr/>
          <a:lstStyle/>
          <a:p>
            <a:fld id="{1E2AE893-BA06-4F67-8C19-46525B8E0FBB}" type="slidenum">
              <a:rPr lang="en-IN" smtClean="0"/>
              <a:pPr/>
              <a:t>7</a:t>
            </a:fld>
            <a:endParaRPr lang="en-IN"/>
          </a:p>
        </p:txBody>
      </p:sp>
    </p:spTree>
    <p:extLst>
      <p:ext uri="{BB962C8B-B14F-4D97-AF65-F5344CB8AC3E}">
        <p14:creationId xmlns:p14="http://schemas.microsoft.com/office/powerpoint/2010/main" val="4214733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5642AC-0503-45C7-BE16-CF058F59558E}"/>
              </a:ext>
            </a:extLst>
          </p:cNvPr>
          <p:cNvSpPr>
            <a:spLocks noGrp="1"/>
          </p:cNvSpPr>
          <p:nvPr>
            <p:ph type="title"/>
          </p:nvPr>
        </p:nvSpPr>
        <p:spPr>
          <a:xfrm>
            <a:off x="546705" y="620485"/>
            <a:ext cx="8330656" cy="827692"/>
          </a:xfrm>
        </p:spPr>
        <p:txBody>
          <a:bodyPr>
            <a:normAutofit/>
          </a:bodyPr>
          <a:lstStyle/>
          <a:p>
            <a:r>
              <a:rPr lang="en-IN" b="1" dirty="0">
                <a:solidFill>
                  <a:schemeClr val="tx1"/>
                </a:solidFill>
                <a:latin typeface="Times New Roman" panose="02020603050405020304" pitchFamily="18" charset="0"/>
                <a:cs typeface="Times New Roman" panose="02020603050405020304" pitchFamily="18" charset="0"/>
              </a:rPr>
              <a:t>Proposed Methodology :</a:t>
            </a:r>
          </a:p>
        </p:txBody>
      </p:sp>
      <p:sp>
        <p:nvSpPr>
          <p:cNvPr id="3" name="Content Placeholder 2">
            <a:extLst>
              <a:ext uri="{FF2B5EF4-FFF2-40B4-BE49-F238E27FC236}">
                <a16:creationId xmlns:a16="http://schemas.microsoft.com/office/drawing/2014/main" id="{3730CD50-53DE-46EA-AAD4-69E599DB5164}"/>
              </a:ext>
            </a:extLst>
          </p:cNvPr>
          <p:cNvSpPr>
            <a:spLocks noGrp="1"/>
          </p:cNvSpPr>
          <p:nvPr>
            <p:ph idx="1"/>
          </p:nvPr>
        </p:nvSpPr>
        <p:spPr>
          <a:xfrm>
            <a:off x="707571" y="1239615"/>
            <a:ext cx="8871600" cy="3100857"/>
          </a:xfrm>
        </p:spPr>
        <p:txBody>
          <a:bodyPr>
            <a:noAutofit/>
          </a:bodyPr>
          <a:lstStyle/>
          <a:p>
            <a:pPr>
              <a:lnSpc>
                <a:spcPts val="2800"/>
              </a:lnSpc>
              <a:spcBef>
                <a:spcPts val="0"/>
              </a:spcBef>
              <a:spcAft>
                <a:spcPts val="600"/>
              </a:spcAft>
            </a:pPr>
            <a:r>
              <a:rPr lang="en-IN" sz="2400" dirty="0">
                <a:solidFill>
                  <a:schemeClr val="tx1"/>
                </a:solidFill>
                <a:latin typeface="Times New Roman" panose="02020603050405020304" pitchFamily="18" charset="0"/>
                <a:cs typeface="Times New Roman" panose="02020603050405020304" pitchFamily="18" charset="0"/>
              </a:rPr>
              <a:t>Technologies Used:</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Python: Backend</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Open CV: Image processing and barcode scanning </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Scikit learn : spoilage prediction models </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OpenAI API : AI chatbot for nutrition assistance </a:t>
            </a:r>
          </a:p>
          <a:p>
            <a:pPr marL="457200" lvl="1" indent="0">
              <a:lnSpc>
                <a:spcPts val="2200"/>
              </a:lnSpc>
              <a:spcBef>
                <a:spcPts val="0"/>
              </a:spcBef>
              <a:spcAft>
                <a:spcPts val="600"/>
              </a:spcAft>
              <a:buNone/>
            </a:pPr>
            <a:endParaRPr lang="en-IN" sz="2400" dirty="0">
              <a:solidFill>
                <a:schemeClr val="tx1"/>
              </a:solidFill>
              <a:latin typeface="Times New Roman" panose="02020603050405020304" pitchFamily="18" charset="0"/>
              <a:cs typeface="Times New Roman" panose="02020603050405020304" pitchFamily="18" charset="0"/>
            </a:endParaRPr>
          </a:p>
          <a:p>
            <a:pPr>
              <a:lnSpc>
                <a:spcPts val="2800"/>
              </a:lnSpc>
              <a:spcBef>
                <a:spcPts val="0"/>
              </a:spcBef>
              <a:spcAft>
                <a:spcPts val="600"/>
              </a:spcAft>
            </a:pPr>
            <a:r>
              <a:rPr lang="en-IN" sz="2400" dirty="0">
                <a:solidFill>
                  <a:schemeClr val="tx1"/>
                </a:solidFill>
                <a:latin typeface="Times New Roman" panose="02020603050405020304" pitchFamily="18" charset="0"/>
                <a:cs typeface="Times New Roman" panose="02020603050405020304" pitchFamily="18" charset="0"/>
              </a:rPr>
              <a:t>Methodology:</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User logs groceries via barcodes scan or manual entry.  </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Food data stored in database.</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AI model predicts expiry urgency.</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System prioritizes food usage order.</a:t>
            </a:r>
          </a:p>
          <a:p>
            <a:pPr lvl="1">
              <a:lnSpc>
                <a:spcPts val="2200"/>
              </a:lnSpc>
              <a:spcBef>
                <a:spcPts val="0"/>
              </a:spcBef>
              <a:spcAft>
                <a:spcPts val="600"/>
              </a:spcAft>
              <a:buFont typeface="Arial" panose="020B0604020202020204" pitchFamily="34" charset="0"/>
              <a:buChar char="•"/>
            </a:pPr>
            <a:r>
              <a:rPr lang="en-IN" sz="2400" dirty="0">
                <a:solidFill>
                  <a:schemeClr val="tx1"/>
                </a:solidFill>
                <a:latin typeface="Times New Roman" panose="02020603050405020304" pitchFamily="18" charset="0"/>
                <a:cs typeface="Times New Roman" panose="02020603050405020304" pitchFamily="18" charset="0"/>
              </a:rPr>
              <a:t>Dashboard displays alerts, recipes, and suggestions.</a:t>
            </a:r>
          </a:p>
        </p:txBody>
      </p:sp>
    </p:spTree>
    <p:extLst>
      <p:ext uri="{BB962C8B-B14F-4D97-AF65-F5344CB8AC3E}">
        <p14:creationId xmlns:p14="http://schemas.microsoft.com/office/powerpoint/2010/main" val="15306535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0DAF8E-790B-E3D5-6FC9-95C8B35A289D}"/>
              </a:ext>
            </a:extLst>
          </p:cNvPr>
          <p:cNvSpPr>
            <a:spLocks noGrp="1"/>
          </p:cNvSpPr>
          <p:nvPr>
            <p:ph type="title"/>
          </p:nvPr>
        </p:nvSpPr>
        <p:spPr>
          <a:xfrm>
            <a:off x="435429" y="451513"/>
            <a:ext cx="10515600" cy="1092213"/>
          </a:xfrm>
        </p:spPr>
        <p:txBody>
          <a:bodyPr/>
          <a:lstStyle/>
          <a:p>
            <a:r>
              <a:rPr lang="en-US" b="1" dirty="0">
                <a:solidFill>
                  <a:schemeClr val="tx1"/>
                </a:solidFill>
                <a:latin typeface="Times New Roman" panose="02020603050405020304" pitchFamily="18" charset="0"/>
                <a:cs typeface="Times New Roman" panose="02020603050405020304" pitchFamily="18" charset="0"/>
              </a:rPr>
              <a:t>Experimental Setup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995526F1-3DC5-DB6F-1620-1C55D3CD3392}"/>
              </a:ext>
            </a:extLst>
          </p:cNvPr>
          <p:cNvSpPr>
            <a:spLocks noGrp="1" noChangeArrowheads="1"/>
          </p:cNvSpPr>
          <p:nvPr>
            <p:ph idx="1"/>
          </p:nvPr>
        </p:nvSpPr>
        <p:spPr bwMode="auto">
          <a:xfrm>
            <a:off x="174171" y="1225689"/>
            <a:ext cx="11582400"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Environment:</a:t>
            </a:r>
            <a:b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frontend of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EatWise</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developed using Flutter in VS Code, while the backend uses </a:t>
            </a: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Supabase</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authentication and data storage.</a:t>
            </a:r>
          </a:p>
          <a:p>
            <a:pPr eaLnBrk="0" fontAlgn="base" hangingPunct="0">
              <a:lnSpc>
                <a:spcPct val="10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Hardware Requirements:</a:t>
            </a:r>
          </a:p>
          <a:p>
            <a:pPr eaLnBrk="0" fontAlgn="base" hangingPunct="0">
              <a:lnSpc>
                <a:spcPct val="100000"/>
              </a:lnSpc>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 </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Laptop/PC for development</a:t>
            </a:r>
          </a:p>
          <a:p>
            <a:pPr eaLnBrk="0" fontAlgn="base" hangingPunct="0">
              <a:lnSpc>
                <a:spcPct val="10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Software Requirements:</a:t>
            </a:r>
          </a:p>
          <a:p>
            <a:pPr eaLnBrk="0" fontAlgn="base" hangingPunct="0">
              <a:lnSpc>
                <a:spcPct val="100000"/>
              </a:lnSpc>
              <a:spcBef>
                <a:spcPct val="0"/>
              </a:spcBef>
              <a:spcAft>
                <a:spcPct val="0"/>
              </a:spcAft>
              <a:buFont typeface="Wingdings" panose="05000000000000000000" pitchFamily="2" charset="2"/>
              <a:buChar char="Ø"/>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Flutter SDK</a:t>
            </a:r>
          </a:p>
          <a:p>
            <a:pPr eaLnBrk="0" fontAlgn="base" hangingPunct="0">
              <a:lnSpc>
                <a:spcPct val="100000"/>
              </a:lnSpc>
              <a:spcBef>
                <a:spcPct val="0"/>
              </a:spcBef>
              <a:spcAft>
                <a:spcPct val="0"/>
              </a:spcAft>
              <a:buFont typeface="Wingdings" panose="05000000000000000000" pitchFamily="2" charset="2"/>
              <a:buChar char="Ø"/>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Dart SDK</a:t>
            </a:r>
          </a:p>
          <a:p>
            <a:pPr eaLnBrk="0" fontAlgn="base" hangingPunct="0">
              <a:lnSpc>
                <a:spcPct val="100000"/>
              </a:lnSpc>
              <a:spcBef>
                <a:spcPct val="0"/>
              </a:spcBef>
              <a:spcAft>
                <a:spcPct val="0"/>
              </a:spcAft>
              <a:buFont typeface="Arial" panose="020B0604020202020204" pitchFamily="34" charset="0"/>
              <a:buChar char="•"/>
            </a:pPr>
            <a:r>
              <a:rPr kumimoji="0" lang="en-US" altLang="en-US" sz="24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Supabase</a:t>
            </a: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account</a:t>
            </a:r>
          </a:p>
          <a:p>
            <a:pPr eaLnBrk="0" fontAlgn="base" hangingPunct="0">
              <a:lnSpc>
                <a:spcPct val="100000"/>
              </a:lnSpc>
              <a:spcBef>
                <a:spcPct val="0"/>
              </a:spcBef>
              <a:spcAft>
                <a:spcPct val="0"/>
              </a:spcAft>
              <a:buFont typeface="Wingdings" panose="05000000000000000000" pitchFamily="2" charset="2"/>
              <a:buChar char="Ø"/>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browser (for testing/demo)</a:t>
            </a:r>
          </a:p>
          <a:p>
            <a:pPr eaLnBrk="0" fontAlgn="base" hangingPunct="0">
              <a:lnSpc>
                <a:spcPct val="100000"/>
              </a:lnSpc>
              <a:spcBef>
                <a:spcPct val="0"/>
              </a:spcBef>
              <a:spcAft>
                <a:spcPct val="0"/>
              </a:spcAft>
              <a:buFont typeface="Arial" panose="020B0604020202020204" pitchFamily="34" charset="0"/>
              <a:buChar char="•"/>
            </a:pP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Barcode &amp; Manual Entry Module:</a:t>
            </a:r>
            <a:b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4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accepts product data through barcode scanning or manual barcode entry for food identification.</a:t>
            </a:r>
          </a:p>
        </p:txBody>
      </p:sp>
      <p:sp>
        <p:nvSpPr>
          <p:cNvPr id="5" name="Slide Number Placeholder 4">
            <a:extLst>
              <a:ext uri="{FF2B5EF4-FFF2-40B4-BE49-F238E27FC236}">
                <a16:creationId xmlns:a16="http://schemas.microsoft.com/office/drawing/2014/main" id="{30E1DF24-C85A-5474-B6F3-3921DD91F269}"/>
              </a:ext>
            </a:extLst>
          </p:cNvPr>
          <p:cNvSpPr>
            <a:spLocks noGrp="1"/>
          </p:cNvSpPr>
          <p:nvPr>
            <p:ph type="sldNum" sz="quarter" idx="12"/>
          </p:nvPr>
        </p:nvSpPr>
        <p:spPr/>
        <p:txBody>
          <a:bodyPr/>
          <a:lstStyle/>
          <a:p>
            <a:fld id="{1E2AE893-BA06-4F67-8C19-46525B8E0FBB}" type="slidenum">
              <a:rPr lang="en-IN" smtClean="0"/>
              <a:pPr/>
              <a:t>9</a:t>
            </a:fld>
            <a:endParaRPr lang="en-IN"/>
          </a:p>
        </p:txBody>
      </p:sp>
    </p:spTree>
    <p:extLst>
      <p:ext uri="{BB962C8B-B14F-4D97-AF65-F5344CB8AC3E}">
        <p14:creationId xmlns:p14="http://schemas.microsoft.com/office/powerpoint/2010/main" val="411433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45" name="Group 44">
            <a:extLst>
              <a:ext uri="{FF2B5EF4-FFF2-40B4-BE49-F238E27FC236}">
                <a16:creationId xmlns:a16="http://schemas.microsoft.com/office/drawing/2014/main" id="{4815A7B4-532E-48C9-AC24-D78ACF3339D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sp>
          <p:nvSpPr>
            <p:cNvPr id="46" name="Freeform 14">
              <a:extLst>
                <a:ext uri="{FF2B5EF4-FFF2-40B4-BE49-F238E27FC236}">
                  <a16:creationId xmlns:a16="http://schemas.microsoft.com/office/drawing/2014/main" id="{D40109F4-CE5C-45F4-856E-F3F69C9FD4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cxnSp>
          <p:nvCxnSpPr>
            <p:cNvPr id="17" name="Straight Connector 16">
              <a:extLst>
                <a:ext uri="{FF2B5EF4-FFF2-40B4-BE49-F238E27FC236}">
                  <a16:creationId xmlns:a16="http://schemas.microsoft.com/office/drawing/2014/main" id="{3CBAA4DE-3D7B-460B-AE98-D9F9990C0B6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7BF1ED3E-4F80-4AF6-A41B-44F53DDE610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47" name="Rectangle 23">
              <a:extLst>
                <a:ext uri="{FF2B5EF4-FFF2-40B4-BE49-F238E27FC236}">
                  <a16:creationId xmlns:a16="http://schemas.microsoft.com/office/drawing/2014/main" id="{C0B2D747-3E31-45C5-9A98-A9710A585F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8" name="Rectangle 25">
              <a:extLst>
                <a:ext uri="{FF2B5EF4-FFF2-40B4-BE49-F238E27FC236}">
                  <a16:creationId xmlns:a16="http://schemas.microsoft.com/office/drawing/2014/main" id="{A15FD4BA-3020-462D-8BE8-B3A65B8E49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49" name="Isosceles Triangle 48">
              <a:extLst>
                <a:ext uri="{FF2B5EF4-FFF2-40B4-BE49-F238E27FC236}">
                  <a16:creationId xmlns:a16="http://schemas.microsoft.com/office/drawing/2014/main" id="{A304284A-7318-4DD5-898C-2F6B23C778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0" name="Rectangle 27">
              <a:extLst>
                <a:ext uri="{FF2B5EF4-FFF2-40B4-BE49-F238E27FC236}">
                  <a16:creationId xmlns:a16="http://schemas.microsoft.com/office/drawing/2014/main" id="{9DF48E66-B635-4509-B115-E0987C014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1" name="Rectangle 28">
              <a:extLst>
                <a:ext uri="{FF2B5EF4-FFF2-40B4-BE49-F238E27FC236}">
                  <a16:creationId xmlns:a16="http://schemas.microsoft.com/office/drawing/2014/main" id="{E3B96D94-5F5A-4F4C-810C-917BF4D26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2" name="Rectangle 29">
              <a:extLst>
                <a:ext uri="{FF2B5EF4-FFF2-40B4-BE49-F238E27FC236}">
                  <a16:creationId xmlns:a16="http://schemas.microsoft.com/office/drawing/2014/main" id="{7F3782D6-BFF8-4389-9D39-A023ADAA92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53" name="Isosceles Triangle 52">
              <a:extLst>
                <a:ext uri="{FF2B5EF4-FFF2-40B4-BE49-F238E27FC236}">
                  <a16:creationId xmlns:a16="http://schemas.microsoft.com/office/drawing/2014/main" id="{ECE162D4-FCAE-441B-B5E9-C91DE62124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9" name="TextBox 8">
            <a:extLst>
              <a:ext uri="{FF2B5EF4-FFF2-40B4-BE49-F238E27FC236}">
                <a16:creationId xmlns:a16="http://schemas.microsoft.com/office/drawing/2014/main" id="{6CC13FEF-D71B-836A-4476-FDB455F75884}"/>
              </a:ext>
            </a:extLst>
          </p:cNvPr>
          <p:cNvSpPr txBox="1"/>
          <p:nvPr/>
        </p:nvSpPr>
        <p:spPr>
          <a:xfrm>
            <a:off x="0" y="-435117"/>
            <a:ext cx="3405586" cy="1087656"/>
          </a:xfrm>
          <a:prstGeom prst="rect">
            <a:avLst/>
          </a:prstGeom>
        </p:spPr>
        <p:txBody>
          <a:bodyPr vert="horz" lIns="91440" tIns="45720" rIns="91440" bIns="45720" rtlCol="0" anchor="b">
            <a:normAutofit/>
          </a:bodyPr>
          <a:lstStyle/>
          <a:p>
            <a:pPr>
              <a:spcBef>
                <a:spcPct val="0"/>
              </a:spcBef>
              <a:spcAft>
                <a:spcPts val="600"/>
              </a:spcAft>
            </a:pPr>
            <a:r>
              <a:rPr lang="en-US" sz="3600" b="1" dirty="0">
                <a:latin typeface="Times New Roman" panose="02020603050405020304" pitchFamily="18" charset="0"/>
                <a:ea typeface="+mj-ea"/>
                <a:cs typeface="Times New Roman" panose="02020603050405020304" pitchFamily="18" charset="0"/>
              </a:rPr>
              <a:t>System Design:</a:t>
            </a:r>
            <a:endParaRPr lang="en-US" sz="3600" dirty="0">
              <a:latin typeface="Times New Roman" panose="02020603050405020304" pitchFamily="18" charset="0"/>
              <a:ea typeface="+mj-ea"/>
              <a:cs typeface="Times New Roman" panose="02020603050405020304" pitchFamily="18" charset="0"/>
            </a:endParaRPr>
          </a:p>
        </p:txBody>
      </p:sp>
      <p:pic>
        <p:nvPicPr>
          <p:cNvPr id="10" name="Picture 9">
            <a:extLst>
              <a:ext uri="{FF2B5EF4-FFF2-40B4-BE49-F238E27FC236}">
                <a16:creationId xmlns:a16="http://schemas.microsoft.com/office/drawing/2014/main" id="{EFE3CE85-8D8F-82BE-B7F9-0891327375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8849" y="652539"/>
            <a:ext cx="9296569" cy="6205461"/>
          </a:xfrm>
          <a:prstGeom prst="rect">
            <a:avLst/>
          </a:prstGeom>
        </p:spPr>
      </p:pic>
    </p:spTree>
    <p:extLst>
      <p:ext uri="{BB962C8B-B14F-4D97-AF65-F5344CB8AC3E}">
        <p14:creationId xmlns:p14="http://schemas.microsoft.com/office/powerpoint/2010/main" val="29143980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81D77-737C-C423-220B-4361ACBEEAD5}"/>
              </a:ext>
            </a:extLst>
          </p:cNvPr>
          <p:cNvSpPr>
            <a:spLocks noGrp="1"/>
          </p:cNvSpPr>
          <p:nvPr>
            <p:ph type="title"/>
          </p:nvPr>
        </p:nvSpPr>
        <p:spPr>
          <a:xfrm>
            <a:off x="677334" y="348343"/>
            <a:ext cx="8596668" cy="1320800"/>
          </a:xfrm>
        </p:spPr>
        <p:txBody>
          <a:bodyPr/>
          <a:lstStyle/>
          <a:p>
            <a:r>
              <a:rPr lang="en-US" b="1" dirty="0">
                <a:solidFill>
                  <a:schemeClr val="tx1"/>
                </a:solidFill>
                <a:latin typeface="Times New Roman" panose="02020603050405020304" pitchFamily="18" charset="0"/>
                <a:cs typeface="Times New Roman" panose="02020603050405020304" pitchFamily="18" charset="0"/>
              </a:rPr>
              <a:t>Implementation :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EF6109F-6498-D21D-41D8-789576208D85}"/>
              </a:ext>
            </a:extLst>
          </p:cNvPr>
          <p:cNvSpPr>
            <a:spLocks noGrp="1"/>
          </p:cNvSpPr>
          <p:nvPr>
            <p:ph type="sldNum" sz="quarter" idx="12"/>
          </p:nvPr>
        </p:nvSpPr>
        <p:spPr/>
        <p:txBody>
          <a:bodyPr/>
          <a:lstStyle/>
          <a:p>
            <a:fld id="{1E2AE893-BA06-4F67-8C19-46525B8E0FBB}" type="slidenum">
              <a:rPr lang="en-IN" smtClean="0"/>
              <a:pPr/>
              <a:t>11</a:t>
            </a:fld>
            <a:endParaRPr lang="en-IN"/>
          </a:p>
        </p:txBody>
      </p:sp>
      <p:sp>
        <p:nvSpPr>
          <p:cNvPr id="4" name="TextBox 3">
            <a:extLst>
              <a:ext uri="{FF2B5EF4-FFF2-40B4-BE49-F238E27FC236}">
                <a16:creationId xmlns:a16="http://schemas.microsoft.com/office/drawing/2014/main" id="{DA6F3C78-04EE-E594-1D34-8D4F5A55A0D5}"/>
              </a:ext>
            </a:extLst>
          </p:cNvPr>
          <p:cNvSpPr txBox="1"/>
          <p:nvPr/>
        </p:nvSpPr>
        <p:spPr>
          <a:xfrm>
            <a:off x="2550020" y="6328688"/>
            <a:ext cx="2073003"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1 : Login Page </a:t>
            </a:r>
            <a:endParaRPr lang="en-IN" sz="16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DE15D645-E798-A957-8CE9-9D5EB1CDB7B3}"/>
              </a:ext>
            </a:extLst>
          </p:cNvPr>
          <p:cNvSpPr txBox="1"/>
          <p:nvPr/>
        </p:nvSpPr>
        <p:spPr>
          <a:xfrm>
            <a:off x="8356924" y="6323378"/>
            <a:ext cx="2741456"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2 : Barcode entry Page </a:t>
            </a:r>
            <a:endParaRPr lang="en-IN" sz="1600" dirty="0">
              <a:latin typeface="Times New Roman" panose="02020603050405020304" pitchFamily="18" charset="0"/>
              <a:cs typeface="Times New Roman" panose="02020603050405020304" pitchFamily="18" charset="0"/>
            </a:endParaRPr>
          </a:p>
        </p:txBody>
      </p:sp>
      <p:sp>
        <p:nvSpPr>
          <p:cNvPr id="11" name="AutoShape 4">
            <a:extLst>
              <a:ext uri="{FF2B5EF4-FFF2-40B4-BE49-F238E27FC236}">
                <a16:creationId xmlns:a16="http://schemas.microsoft.com/office/drawing/2014/main" id="{16B25EA6-1037-01A1-BB86-822C4A97F47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4" name="Picture 13">
            <a:extLst>
              <a:ext uri="{FF2B5EF4-FFF2-40B4-BE49-F238E27FC236}">
                <a16:creationId xmlns:a16="http://schemas.microsoft.com/office/drawing/2014/main" id="{38A2897D-0FA1-A463-25EA-F94DB55F882D}"/>
              </a:ext>
            </a:extLst>
          </p:cNvPr>
          <p:cNvPicPr>
            <a:picLocks noChangeAspect="1"/>
          </p:cNvPicPr>
          <p:nvPr/>
        </p:nvPicPr>
        <p:blipFill>
          <a:blip r:embed="rId2"/>
          <a:stretch>
            <a:fillRect/>
          </a:stretch>
        </p:blipFill>
        <p:spPr>
          <a:xfrm>
            <a:off x="848108" y="1226578"/>
            <a:ext cx="5438926" cy="5096800"/>
          </a:xfrm>
          <a:prstGeom prst="rect">
            <a:avLst/>
          </a:prstGeom>
        </p:spPr>
      </p:pic>
      <p:pic>
        <p:nvPicPr>
          <p:cNvPr id="16" name="Picture 15">
            <a:extLst>
              <a:ext uri="{FF2B5EF4-FFF2-40B4-BE49-F238E27FC236}">
                <a16:creationId xmlns:a16="http://schemas.microsoft.com/office/drawing/2014/main" id="{BE5D3671-4DE7-5B27-B017-B77E0410D6C7}"/>
              </a:ext>
            </a:extLst>
          </p:cNvPr>
          <p:cNvPicPr>
            <a:picLocks noChangeAspect="1"/>
          </p:cNvPicPr>
          <p:nvPr/>
        </p:nvPicPr>
        <p:blipFill>
          <a:blip r:embed="rId3"/>
          <a:stretch>
            <a:fillRect/>
          </a:stretch>
        </p:blipFill>
        <p:spPr>
          <a:xfrm>
            <a:off x="6457807" y="1226578"/>
            <a:ext cx="5438925" cy="5096800"/>
          </a:xfrm>
          <a:prstGeom prst="rect">
            <a:avLst/>
          </a:prstGeom>
        </p:spPr>
      </p:pic>
    </p:spTree>
    <p:extLst>
      <p:ext uri="{BB962C8B-B14F-4D97-AF65-F5344CB8AC3E}">
        <p14:creationId xmlns:p14="http://schemas.microsoft.com/office/powerpoint/2010/main" val="34967011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EBDFB4-6827-44C9-FE07-F2C50AD209AF}"/>
              </a:ext>
            </a:extLst>
          </p:cNvPr>
          <p:cNvSpPr txBox="1"/>
          <p:nvPr/>
        </p:nvSpPr>
        <p:spPr>
          <a:xfrm>
            <a:off x="2073857" y="5793521"/>
            <a:ext cx="2553904"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3 : Expiry Reminder </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5C15F1F-0470-B7AE-BB31-77E13A3B3EEF}"/>
              </a:ext>
            </a:extLst>
          </p:cNvPr>
          <p:cNvSpPr txBox="1"/>
          <p:nvPr/>
        </p:nvSpPr>
        <p:spPr>
          <a:xfrm>
            <a:off x="7663050" y="5794858"/>
            <a:ext cx="3696846"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4 : Smart Recipe Recommendation</a:t>
            </a:r>
            <a:endParaRPr lang="en-IN" sz="16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CE23F826-B4C6-D58B-94A7-EA111BE0E062}"/>
              </a:ext>
            </a:extLst>
          </p:cNvPr>
          <p:cNvPicPr>
            <a:picLocks noChangeAspect="1"/>
          </p:cNvPicPr>
          <p:nvPr/>
        </p:nvPicPr>
        <p:blipFill>
          <a:blip r:embed="rId2"/>
          <a:stretch>
            <a:fillRect/>
          </a:stretch>
        </p:blipFill>
        <p:spPr>
          <a:xfrm>
            <a:off x="349138" y="1000398"/>
            <a:ext cx="5746862" cy="4774474"/>
          </a:xfrm>
          <a:prstGeom prst="rect">
            <a:avLst/>
          </a:prstGeom>
        </p:spPr>
      </p:pic>
      <p:pic>
        <p:nvPicPr>
          <p:cNvPr id="8" name="Picture 7">
            <a:extLst>
              <a:ext uri="{FF2B5EF4-FFF2-40B4-BE49-F238E27FC236}">
                <a16:creationId xmlns:a16="http://schemas.microsoft.com/office/drawing/2014/main" id="{69CE71BF-A73C-1A6C-B650-9F0957B78867}"/>
              </a:ext>
            </a:extLst>
          </p:cNvPr>
          <p:cNvPicPr>
            <a:picLocks noChangeAspect="1"/>
          </p:cNvPicPr>
          <p:nvPr/>
        </p:nvPicPr>
        <p:blipFill>
          <a:blip r:embed="rId3"/>
          <a:stretch>
            <a:fillRect/>
          </a:stretch>
        </p:blipFill>
        <p:spPr>
          <a:xfrm>
            <a:off x="6415790" y="1000398"/>
            <a:ext cx="5427072" cy="4774474"/>
          </a:xfrm>
          <a:prstGeom prst="rect">
            <a:avLst/>
          </a:prstGeom>
        </p:spPr>
      </p:pic>
    </p:spTree>
    <p:extLst>
      <p:ext uri="{BB962C8B-B14F-4D97-AF65-F5344CB8AC3E}">
        <p14:creationId xmlns:p14="http://schemas.microsoft.com/office/powerpoint/2010/main" val="23807722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06852D-F6AA-9CA0-3E57-BC6C2B252BCC}"/>
              </a:ext>
            </a:extLst>
          </p:cNvPr>
          <p:cNvSpPr txBox="1"/>
          <p:nvPr/>
        </p:nvSpPr>
        <p:spPr>
          <a:xfrm>
            <a:off x="1960929" y="5533897"/>
            <a:ext cx="2744662"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5 : Food Prioritization  </a:t>
            </a:r>
            <a:endParaRPr lang="en-IN" sz="16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B9F391B-D28E-5AB1-4EBF-F5846760556F}"/>
              </a:ext>
            </a:extLst>
          </p:cNvPr>
          <p:cNvSpPr txBox="1"/>
          <p:nvPr/>
        </p:nvSpPr>
        <p:spPr>
          <a:xfrm>
            <a:off x="7965938" y="5533896"/>
            <a:ext cx="2938497" cy="338554"/>
          </a:xfrm>
          <a:prstGeom prst="rect">
            <a:avLst/>
          </a:prstGeom>
          <a:noFill/>
        </p:spPr>
        <p:txBody>
          <a:bodyPr wrap="none" rtlCol="0">
            <a:spAutoFit/>
          </a:bodyPr>
          <a:lstStyle/>
          <a:p>
            <a:r>
              <a:rPr lang="en-US" sz="1600" dirty="0">
                <a:latin typeface="Times New Roman" panose="02020603050405020304" pitchFamily="18" charset="0"/>
                <a:cs typeface="Times New Roman" panose="02020603050405020304" pitchFamily="18" charset="0"/>
              </a:rPr>
              <a:t>Fig no. 6: AI Nutritionist Chatbot</a:t>
            </a:r>
            <a:endParaRPr lang="en-IN" sz="1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3BD651C-0AED-360B-4001-747FD0B3815F}"/>
              </a:ext>
            </a:extLst>
          </p:cNvPr>
          <p:cNvPicPr>
            <a:picLocks noChangeAspect="1"/>
          </p:cNvPicPr>
          <p:nvPr/>
        </p:nvPicPr>
        <p:blipFill>
          <a:blip r:embed="rId2"/>
          <a:stretch>
            <a:fillRect/>
          </a:stretch>
        </p:blipFill>
        <p:spPr>
          <a:xfrm>
            <a:off x="241905" y="1076197"/>
            <a:ext cx="5501343" cy="4457700"/>
          </a:xfrm>
          <a:prstGeom prst="rect">
            <a:avLst/>
          </a:prstGeom>
        </p:spPr>
      </p:pic>
      <p:pic>
        <p:nvPicPr>
          <p:cNvPr id="8" name="Picture 7">
            <a:extLst>
              <a:ext uri="{FF2B5EF4-FFF2-40B4-BE49-F238E27FC236}">
                <a16:creationId xmlns:a16="http://schemas.microsoft.com/office/drawing/2014/main" id="{3381FD95-88FD-A885-2836-BEAE48C0D5C6}"/>
              </a:ext>
            </a:extLst>
          </p:cNvPr>
          <p:cNvPicPr>
            <a:picLocks noChangeAspect="1"/>
          </p:cNvPicPr>
          <p:nvPr/>
        </p:nvPicPr>
        <p:blipFill>
          <a:blip r:embed="rId3"/>
          <a:stretch>
            <a:fillRect/>
          </a:stretch>
        </p:blipFill>
        <p:spPr>
          <a:xfrm>
            <a:off x="6096000" y="1076197"/>
            <a:ext cx="5854096" cy="4457700"/>
          </a:xfrm>
          <a:prstGeom prst="rect">
            <a:avLst/>
          </a:prstGeom>
        </p:spPr>
      </p:pic>
    </p:spTree>
    <p:extLst>
      <p:ext uri="{BB962C8B-B14F-4D97-AF65-F5344CB8AC3E}">
        <p14:creationId xmlns:p14="http://schemas.microsoft.com/office/powerpoint/2010/main" val="1850147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C7582B6-8F27-D1BF-0872-DDC28B04F363}"/>
              </a:ext>
            </a:extLst>
          </p:cNvPr>
          <p:cNvPicPr>
            <a:picLocks noChangeAspect="1"/>
          </p:cNvPicPr>
          <p:nvPr/>
        </p:nvPicPr>
        <p:blipFill>
          <a:blip r:embed="rId3"/>
          <a:stretch>
            <a:fillRect/>
          </a:stretch>
        </p:blipFill>
        <p:spPr>
          <a:xfrm>
            <a:off x="1056415" y="711642"/>
            <a:ext cx="8010525" cy="5059571"/>
          </a:xfrm>
          <a:prstGeom prst="rect">
            <a:avLst/>
          </a:prstGeom>
        </p:spPr>
      </p:pic>
      <p:sp>
        <p:nvSpPr>
          <p:cNvPr id="7" name="TextBox 6">
            <a:extLst>
              <a:ext uri="{FF2B5EF4-FFF2-40B4-BE49-F238E27FC236}">
                <a16:creationId xmlns:a16="http://schemas.microsoft.com/office/drawing/2014/main" id="{BA0573BE-E8BD-1FC3-F8BB-A5E8610701BB}"/>
              </a:ext>
            </a:extLst>
          </p:cNvPr>
          <p:cNvSpPr txBox="1"/>
          <p:nvPr/>
        </p:nvSpPr>
        <p:spPr>
          <a:xfrm>
            <a:off x="3045502" y="5771213"/>
            <a:ext cx="6100996" cy="338554"/>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Fig no.7: User’s Profile</a:t>
            </a:r>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97653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654D7-F72E-9DEE-E5BD-A84C9EA4E037}"/>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Conclusion:</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677FC01-C14A-3013-7524-822C3878812C}"/>
              </a:ext>
            </a:extLst>
          </p:cNvPr>
          <p:cNvSpPr>
            <a:spLocks noGrp="1"/>
          </p:cNvSpPr>
          <p:nvPr>
            <p:ph idx="1"/>
          </p:nvPr>
        </p:nvSpPr>
        <p:spPr>
          <a:xfrm>
            <a:off x="677334" y="1725160"/>
            <a:ext cx="8596668" cy="3880773"/>
          </a:xfrm>
        </p:spPr>
        <p:txBody>
          <a:bodyPr>
            <a:normAutofit/>
          </a:bodyPr>
          <a:lstStyle/>
          <a:p>
            <a:r>
              <a:rPr lang="en-US" sz="2400" dirty="0" err="1">
                <a:solidFill>
                  <a:schemeClr val="tx1"/>
                </a:solidFill>
                <a:latin typeface="Times New Roman" panose="02020603050405020304" pitchFamily="18" charset="0"/>
                <a:cs typeface="Times New Roman" panose="02020603050405020304" pitchFamily="18" charset="0"/>
              </a:rPr>
              <a:t>EatWise</a:t>
            </a:r>
            <a:r>
              <a:rPr lang="en-US" sz="2400" dirty="0">
                <a:solidFill>
                  <a:schemeClr val="tx1"/>
                </a:solidFill>
                <a:latin typeface="Times New Roman" panose="02020603050405020304" pitchFamily="18" charset="0"/>
                <a:cs typeface="Times New Roman" panose="02020603050405020304" pitchFamily="18" charset="0"/>
              </a:rPr>
              <a:t> provides a smart and practical solution to reduce food waste and promote healthy eating habits.</a:t>
            </a:r>
          </a:p>
          <a:p>
            <a:r>
              <a:rPr lang="en-US" sz="2400" dirty="0">
                <a:solidFill>
                  <a:schemeClr val="tx1"/>
                </a:solidFill>
                <a:latin typeface="Times New Roman" panose="02020603050405020304" pitchFamily="18" charset="0"/>
                <a:cs typeface="Times New Roman" panose="02020603050405020304" pitchFamily="18" charset="0"/>
              </a:rPr>
              <a:t>By combining barcode-based food tracking, expiry monitoring, and nutrition analysis, the app helps users make better food choices. </a:t>
            </a:r>
          </a:p>
          <a:p>
            <a:r>
              <a:rPr lang="en-US" sz="2400" dirty="0">
                <a:solidFill>
                  <a:schemeClr val="tx1"/>
                </a:solidFill>
                <a:latin typeface="Times New Roman" panose="02020603050405020304" pitchFamily="18" charset="0"/>
                <a:cs typeface="Times New Roman" panose="02020603050405020304" pitchFamily="18" charset="0"/>
              </a:rPr>
              <a:t>It supports sustainable living by encouraging responsible consumption and efficient food management. </a:t>
            </a:r>
          </a:p>
          <a:p>
            <a:r>
              <a:rPr lang="en-US" sz="2400" dirty="0" err="1">
                <a:solidFill>
                  <a:schemeClr val="tx1"/>
                </a:solidFill>
                <a:latin typeface="Times New Roman" panose="02020603050405020304" pitchFamily="18" charset="0"/>
                <a:cs typeface="Times New Roman" panose="02020603050405020304" pitchFamily="18" charset="0"/>
              </a:rPr>
              <a:t>EatWise</a:t>
            </a:r>
            <a:r>
              <a:rPr lang="en-US" sz="2400" dirty="0">
                <a:solidFill>
                  <a:schemeClr val="tx1"/>
                </a:solidFill>
                <a:latin typeface="Times New Roman" panose="02020603050405020304" pitchFamily="18" charset="0"/>
                <a:cs typeface="Times New Roman" panose="02020603050405020304" pitchFamily="18" charset="0"/>
              </a:rPr>
              <a:t> shows how technology can be used to solve real-world problems in a simple and effective way.</a:t>
            </a:r>
            <a:endParaRPr lang="en-IN"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985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B1C80-DDAF-40D7-9311-D836C6DC66FD}"/>
              </a:ext>
            </a:extLst>
          </p:cNvPr>
          <p:cNvSpPr>
            <a:spLocks noGrp="1"/>
          </p:cNvSpPr>
          <p:nvPr>
            <p:ph type="title"/>
          </p:nvPr>
        </p:nvSpPr>
        <p:spPr/>
        <p:txBody>
          <a:bodyPr/>
          <a:lstStyle/>
          <a:p>
            <a:r>
              <a:rPr lang="en-US" b="1" dirty="0">
                <a:solidFill>
                  <a:schemeClr val="tx1"/>
                </a:solidFill>
                <a:latin typeface="Times New Roman" panose="02020603050405020304" pitchFamily="18" charset="0"/>
                <a:cs typeface="Times New Roman" panose="02020603050405020304" pitchFamily="18" charset="0"/>
              </a:rPr>
              <a:t>Future Scope :</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6" name="Rectangle 1">
            <a:extLst>
              <a:ext uri="{FF2B5EF4-FFF2-40B4-BE49-F238E27FC236}">
                <a16:creationId xmlns:a16="http://schemas.microsoft.com/office/drawing/2014/main" id="{DB65A433-0682-1117-976C-BB5AB6F2E078}"/>
              </a:ext>
            </a:extLst>
          </p:cNvPr>
          <p:cNvSpPr>
            <a:spLocks noGrp="1" noChangeArrowheads="1"/>
          </p:cNvSpPr>
          <p:nvPr>
            <p:ph idx="1"/>
          </p:nvPr>
        </p:nvSpPr>
        <p:spPr bwMode="auto">
          <a:xfrm>
            <a:off x="677334" y="1933895"/>
            <a:ext cx="7336971" cy="20628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Convert </a:t>
            </a:r>
            <a:r>
              <a:rPr kumimoji="0" lang="en-US" altLang="en-US" sz="22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EatWise</a:t>
            </a: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into a full mobile app for Android and iOS.</a:t>
            </a:r>
          </a:p>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real-time notifications for food expiry reminders.</a:t>
            </a:r>
          </a:p>
          <a:p>
            <a:pPr eaLnBrk="0" fontAlgn="base" hangingPunct="0">
              <a:lnSpc>
                <a:spcPct val="150000"/>
              </a:lnSpc>
              <a:spcBef>
                <a:spcPct val="0"/>
              </a:spcBef>
              <a:spcAft>
                <a:spcPct val="0"/>
              </a:spcAft>
            </a:pPr>
            <a:r>
              <a:rPr kumimoji="0" lang="en-US" altLang="en-US" sz="22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 direct camera barcode scanning in the mobile version.</a:t>
            </a:r>
          </a:p>
        </p:txBody>
      </p:sp>
    </p:spTree>
    <p:extLst>
      <p:ext uri="{BB962C8B-B14F-4D97-AF65-F5344CB8AC3E}">
        <p14:creationId xmlns:p14="http://schemas.microsoft.com/office/powerpoint/2010/main" val="819696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6B386-ECE9-44F7-990B-A3788E69C104}"/>
              </a:ext>
            </a:extLst>
          </p:cNvPr>
          <p:cNvSpPr>
            <a:spLocks noGrp="1"/>
          </p:cNvSpPr>
          <p:nvPr>
            <p:ph type="title"/>
          </p:nvPr>
        </p:nvSpPr>
        <p:spPr/>
        <p:txBody>
          <a:bodyPr/>
          <a:lstStyle/>
          <a:p>
            <a:r>
              <a:rPr lang="en-IN" b="1" dirty="0">
                <a:solidFill>
                  <a:schemeClr val="tx1"/>
                </a:solidFill>
                <a:latin typeface="Times New Roman" panose="02020603050405020304" pitchFamily="18" charset="0"/>
                <a:cs typeface="Times New Roman" panose="02020603050405020304" pitchFamily="18" charset="0"/>
              </a:rPr>
              <a:t>Research &amp; References:</a:t>
            </a:r>
          </a:p>
        </p:txBody>
      </p:sp>
      <p:sp>
        <p:nvSpPr>
          <p:cNvPr id="3" name="Content Placeholder 2">
            <a:extLst>
              <a:ext uri="{FF2B5EF4-FFF2-40B4-BE49-F238E27FC236}">
                <a16:creationId xmlns:a16="http://schemas.microsoft.com/office/drawing/2014/main" id="{7B8CD2C9-1DA3-473E-B8CD-3C5E765FDE49}"/>
              </a:ext>
            </a:extLst>
          </p:cNvPr>
          <p:cNvSpPr>
            <a:spLocks noGrp="1"/>
          </p:cNvSpPr>
          <p:nvPr>
            <p:ph idx="1"/>
          </p:nvPr>
        </p:nvSpPr>
        <p:spPr/>
        <p:txBody>
          <a:bodyPr/>
          <a:lstStyle/>
          <a:p>
            <a:pPr marL="0" lvl="0" indent="0">
              <a:buNone/>
            </a:pPr>
            <a:r>
              <a:rPr lang="en-IN" dirty="0">
                <a:latin typeface="Times New Roman" panose="02020603050405020304" pitchFamily="18" charset="0"/>
                <a:cs typeface="Times New Roman" panose="02020603050405020304" pitchFamily="18" charset="0"/>
              </a:rPr>
              <a:t>[1] S. Chauhan et al., “AI Food Expiry Tracker and Smart Recipe Suggestion,” </a:t>
            </a:r>
            <a:r>
              <a:rPr lang="en-IN" i="1" dirty="0">
                <a:latin typeface="Times New Roman" panose="02020603050405020304" pitchFamily="18" charset="0"/>
                <a:cs typeface="Times New Roman" panose="02020603050405020304" pitchFamily="18" charset="0"/>
              </a:rPr>
              <a:t>Proceedings of NCAIDT 2025</a:t>
            </a:r>
            <a:r>
              <a:rPr lang="en-IN" dirty="0">
                <a:latin typeface="Times New Roman" panose="02020603050405020304" pitchFamily="18" charset="0"/>
                <a:cs typeface="Times New Roman" panose="02020603050405020304" pitchFamily="18" charset="0"/>
              </a:rPr>
              <a:t>, 2025. [Online]. Available: </a:t>
            </a:r>
            <a:r>
              <a:rPr lang="en-IN" u="sng" dirty="0">
                <a:latin typeface="Times New Roman" panose="02020603050405020304" pitchFamily="18" charset="0"/>
                <a:cs typeface="Times New Roman" panose="02020603050405020304" pitchFamily="18" charset="0"/>
                <a:hlinkClick r:id="rId2"/>
              </a:rPr>
              <a:t>https://ncaidt.ganitara.com/ncaidt25/papers/P5.pdf</a:t>
            </a:r>
            <a:endParaRPr lang="en-IN" dirty="0">
              <a:latin typeface="Times New Roman" panose="02020603050405020304" pitchFamily="18" charset="0"/>
              <a:cs typeface="Times New Roman" panose="02020603050405020304" pitchFamily="18" charset="0"/>
            </a:endParaRPr>
          </a:p>
          <a:p>
            <a:pPr marL="0" lvl="0" indent="0">
              <a:buNone/>
            </a:pPr>
            <a:r>
              <a:rPr lang="en-IN" dirty="0">
                <a:latin typeface="Times New Roman" panose="02020603050405020304" pitchFamily="18" charset="0"/>
                <a:cs typeface="Times New Roman" panose="02020603050405020304" pitchFamily="18" charset="0"/>
              </a:rPr>
              <a:t> [2] H. </a:t>
            </a:r>
            <a:r>
              <a:rPr lang="en-IN" dirty="0" err="1">
                <a:latin typeface="Times New Roman" panose="02020603050405020304" pitchFamily="18" charset="0"/>
                <a:cs typeface="Times New Roman" panose="02020603050405020304" pitchFamily="18" charset="0"/>
              </a:rPr>
              <a:t>Onyeaka</a:t>
            </a:r>
            <a:r>
              <a:rPr lang="en-IN" dirty="0">
                <a:latin typeface="Times New Roman" panose="02020603050405020304" pitchFamily="18" charset="0"/>
                <a:cs typeface="Times New Roman" panose="02020603050405020304" pitchFamily="18" charset="0"/>
              </a:rPr>
              <a:t> et al., “Artificial intelligence in food system: Innovative approach to   minimizing food spoilage and food waste,” </a:t>
            </a:r>
            <a:r>
              <a:rPr lang="en-IN" i="1" dirty="0">
                <a:latin typeface="Times New Roman" panose="02020603050405020304" pitchFamily="18" charset="0"/>
                <a:cs typeface="Times New Roman" panose="02020603050405020304" pitchFamily="18" charset="0"/>
              </a:rPr>
              <a:t>Journal of Agriculture and Food Research</a:t>
            </a:r>
            <a:r>
              <a:rPr lang="en-IN" dirty="0">
                <a:latin typeface="Times New Roman" panose="02020603050405020304" pitchFamily="18" charset="0"/>
                <a:cs typeface="Times New Roman" panose="02020603050405020304" pitchFamily="18" charset="0"/>
              </a:rPr>
              <a:t>, vol. X</a:t>
            </a:r>
          </a:p>
          <a:p>
            <a:pPr marL="0" lvl="0" indent="0">
              <a:buNone/>
            </a:pPr>
            <a:r>
              <a:rPr lang="en-IN" dirty="0">
                <a:latin typeface="Times New Roman" panose="02020603050405020304" pitchFamily="18" charset="0"/>
                <a:cs typeface="Times New Roman" panose="02020603050405020304" pitchFamily="18" charset="0"/>
              </a:rPr>
              <a:t>[3] X, 2025. [Online]. Available: </a:t>
            </a:r>
            <a:r>
              <a:rPr lang="en-IN" u="sng" dirty="0">
                <a:latin typeface="Times New Roman" panose="02020603050405020304" pitchFamily="18" charset="0"/>
                <a:cs typeface="Times New Roman" panose="02020603050405020304" pitchFamily="18" charset="0"/>
                <a:hlinkClick r:id="rId3"/>
              </a:rPr>
              <a:t>https://www.sciencedirect.com/science/article/pii/S2666154325002662</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711578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1353</TotalTime>
  <Words>1067</Words>
  <Application>Microsoft Office PowerPoint</Application>
  <PresentationFormat>Widescreen</PresentationFormat>
  <Paragraphs>99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Times New Roman</vt:lpstr>
      <vt:lpstr>Trebuchet MS</vt:lpstr>
      <vt:lpstr>Wingdings</vt:lpstr>
      <vt:lpstr>Wingdings 3</vt:lpstr>
      <vt:lpstr>Facet</vt:lpstr>
      <vt:lpstr>PowerPoint Presentation</vt:lpstr>
      <vt:lpstr>Presentation Outline:</vt:lpstr>
      <vt:lpstr>Introduction:</vt:lpstr>
      <vt:lpstr>Sustainable Development Goal:</vt:lpstr>
      <vt:lpstr>Literature Survey:</vt:lpstr>
      <vt:lpstr>Limitations of existing systems :</vt:lpstr>
      <vt:lpstr>Problem Statement:</vt:lpstr>
      <vt:lpstr>Proposed Methodology :</vt:lpstr>
      <vt:lpstr>Experimental Setup :</vt:lpstr>
      <vt:lpstr>PowerPoint Presentation</vt:lpstr>
      <vt:lpstr>Implementation : </vt:lpstr>
      <vt:lpstr>PowerPoint Presentation</vt:lpstr>
      <vt:lpstr>PowerPoint Presentation</vt:lpstr>
      <vt:lpstr>PowerPoint Presentation</vt:lpstr>
      <vt:lpstr>Conclusion:</vt:lpstr>
      <vt:lpstr>Future Scope :</vt:lpstr>
      <vt:lpstr>Research &amp;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Sami Ansari</dc:creator>
  <cp:lastModifiedBy>saniyavd@gmail.com</cp:lastModifiedBy>
  <cp:revision>45</cp:revision>
  <dcterms:created xsi:type="dcterms:W3CDTF">2026-01-11T10:28:42Z</dcterms:created>
  <dcterms:modified xsi:type="dcterms:W3CDTF">2026-04-19T08:47:04Z</dcterms:modified>
</cp:coreProperties>
</file>